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70" r:id="rId14"/>
    <p:sldId id="269" r:id="rId15"/>
    <p:sldId id="303" r:id="rId16"/>
    <p:sldId id="272" r:id="rId17"/>
    <p:sldId id="288" r:id="rId18"/>
    <p:sldId id="289" r:id="rId19"/>
    <p:sldId id="290" r:id="rId20"/>
    <p:sldId id="291" r:id="rId21"/>
    <p:sldId id="292" r:id="rId22"/>
    <p:sldId id="273" r:id="rId23"/>
    <p:sldId id="274" r:id="rId24"/>
    <p:sldId id="276" r:id="rId25"/>
    <p:sldId id="275" r:id="rId26"/>
    <p:sldId id="277" r:id="rId27"/>
    <p:sldId id="278" r:id="rId28"/>
    <p:sldId id="279" r:id="rId29"/>
    <p:sldId id="280" r:id="rId30"/>
    <p:sldId id="281" r:id="rId31"/>
    <p:sldId id="282" r:id="rId32"/>
    <p:sldId id="283" r:id="rId33"/>
    <p:sldId id="284" r:id="rId34"/>
    <p:sldId id="285" r:id="rId35"/>
    <p:sldId id="286" r:id="rId36"/>
    <p:sldId id="287" r:id="rId37"/>
    <p:sldId id="304" r:id="rId38"/>
    <p:sldId id="293" r:id="rId39"/>
    <p:sldId id="294" r:id="rId40"/>
    <p:sldId id="295" r:id="rId41"/>
    <p:sldId id="296" r:id="rId42"/>
    <p:sldId id="297" r:id="rId43"/>
    <p:sldId id="298" r:id="rId44"/>
    <p:sldId id="299" r:id="rId45"/>
    <p:sldId id="300" r:id="rId46"/>
    <p:sldId id="301" r:id="rId47"/>
    <p:sldId id="302" r:id="rId48"/>
    <p:sldId id="306" r:id="rId49"/>
    <p:sldId id="305" r:id="rId50"/>
    <p:sldId id="307" r:id="rId51"/>
    <p:sldId id="308" r:id="rId52"/>
    <p:sldId id="309" r:id="rId53"/>
    <p:sldId id="310" r:id="rId54"/>
    <p:sldId id="311" r:id="rId55"/>
    <p:sldId id="312" r:id="rId56"/>
    <p:sldId id="271"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C348F8-F952-45E9-865F-C62DAE1A91C5}" v="38" dt="2026-02-03T13:59:30.3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3B01046B-ADE0-41BD-A2CE-8E425A679523}"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40781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spTree>
    <p:extLst>
      <p:ext uri="{BB962C8B-B14F-4D97-AF65-F5344CB8AC3E}">
        <p14:creationId xmlns:p14="http://schemas.microsoft.com/office/powerpoint/2010/main" val="2826737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758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173207-2540-4301-8D15-4DF985393AE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01046B-ADE0-41BD-A2CE-8E425A679523}" type="slidenum">
              <a:rPr lang="en-IN" smtClean="0"/>
              <a:t>‹#›</a:t>
            </a:fld>
            <a:endParaRPr lang="en-IN"/>
          </a:p>
        </p:txBody>
      </p:sp>
    </p:spTree>
    <p:extLst>
      <p:ext uri="{BB962C8B-B14F-4D97-AF65-F5344CB8AC3E}">
        <p14:creationId xmlns:p14="http://schemas.microsoft.com/office/powerpoint/2010/main" val="1627389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C173207-2540-4301-8D15-4DF985393AE0}" type="datetimeFigureOut">
              <a:rPr lang="en-IN" smtClean="0"/>
              <a:t>03-02-2026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B01046B-ADE0-41BD-A2CE-8E425A679523}"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0423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173207-2540-4301-8D15-4DF985393AE0}" type="datetimeFigureOut">
              <a:rPr lang="en-IN" smtClean="0"/>
              <a:t>03-02-2026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B01046B-ADE0-41BD-A2CE-8E425A679523}"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2599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173207-2540-4301-8D15-4DF985393AE0}" type="datetimeFigureOut">
              <a:rPr lang="en-IN" smtClean="0"/>
              <a:t>03-02-2026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B01046B-ADE0-41BD-A2CE-8E425A679523}" type="slidenum">
              <a:rPr lang="en-IN" smtClean="0"/>
              <a:t>‹#›</a:t>
            </a:fld>
            <a:endParaRPr lang="en-IN"/>
          </a:p>
        </p:txBody>
      </p:sp>
    </p:spTree>
    <p:extLst>
      <p:ext uri="{BB962C8B-B14F-4D97-AF65-F5344CB8AC3E}">
        <p14:creationId xmlns:p14="http://schemas.microsoft.com/office/powerpoint/2010/main" val="4290189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173207-2540-4301-8D15-4DF985393AE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01046B-ADE0-41BD-A2CE-8E425A679523}"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4401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173207-2540-4301-8D15-4DF985393AE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01046B-ADE0-41BD-A2CE-8E425A679523}" type="slidenum">
              <a:rPr lang="en-IN" smtClean="0"/>
              <a:t>‹#›</a:t>
            </a:fld>
            <a:endParaRPr lang="en-IN"/>
          </a:p>
        </p:txBody>
      </p:sp>
    </p:spTree>
    <p:extLst>
      <p:ext uri="{BB962C8B-B14F-4D97-AF65-F5344CB8AC3E}">
        <p14:creationId xmlns:p14="http://schemas.microsoft.com/office/powerpoint/2010/main" val="1487156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173207-2540-4301-8D15-4DF985393AE0}"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01046B-ADE0-41BD-A2CE-8E425A679523}" type="slidenum">
              <a:rPr lang="en-IN" smtClean="0"/>
              <a:t>‹#›</a:t>
            </a:fld>
            <a:endParaRPr lang="en-IN"/>
          </a:p>
        </p:txBody>
      </p:sp>
    </p:spTree>
    <p:extLst>
      <p:ext uri="{BB962C8B-B14F-4D97-AF65-F5344CB8AC3E}">
        <p14:creationId xmlns:p14="http://schemas.microsoft.com/office/powerpoint/2010/main" val="3390119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9767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56980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spTree>
    <p:extLst>
      <p:ext uri="{BB962C8B-B14F-4D97-AF65-F5344CB8AC3E}">
        <p14:creationId xmlns:p14="http://schemas.microsoft.com/office/powerpoint/2010/main" val="8164088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55764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83083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25928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173207-2540-4301-8D15-4DF985393AE0}"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01046B-ADE0-41BD-A2CE-8E425A679523}"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4854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C173207-2540-4301-8D15-4DF985393AE0}" type="datetimeFigureOut">
              <a:rPr lang="en-IN" smtClean="0"/>
              <a:t>03-02-2026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B01046B-ADE0-41BD-A2CE-8E425A679523}" type="slidenum">
              <a:rPr lang="en-IN" smtClean="0"/>
              <a:t>‹#›</a:t>
            </a:fld>
            <a:endParaRPr lang="en-IN"/>
          </a:p>
        </p:txBody>
      </p:sp>
    </p:spTree>
    <p:extLst>
      <p:ext uri="{BB962C8B-B14F-4D97-AF65-F5344CB8AC3E}">
        <p14:creationId xmlns:p14="http://schemas.microsoft.com/office/powerpoint/2010/main" val="42542428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D4BDE-A632-8446-18BD-E9B0BC60AF8D}"/>
              </a:ext>
            </a:extLst>
          </p:cNvPr>
          <p:cNvSpPr>
            <a:spLocks noGrp="1"/>
          </p:cNvSpPr>
          <p:nvPr>
            <p:ph type="ctrTitle"/>
          </p:nvPr>
        </p:nvSpPr>
        <p:spPr>
          <a:xfrm>
            <a:off x="2692398" y="1871131"/>
            <a:ext cx="6815669" cy="2720534"/>
          </a:xfrm>
        </p:spPr>
        <p:txBody>
          <a:bodyPr/>
          <a:lstStyle/>
          <a:p>
            <a:r>
              <a:rPr lang="en-IN" sz="4000" b="1" dirty="0">
                <a:solidFill>
                  <a:srgbClr val="FF0000"/>
                </a:solidFill>
              </a:rPr>
              <a:t>Inventra – Intelligent Inventory Management System</a:t>
            </a:r>
            <a:br>
              <a:rPr lang="en-IN" sz="4000" b="1" dirty="0">
                <a:solidFill>
                  <a:srgbClr val="FF0000"/>
                </a:solidFill>
              </a:rPr>
            </a:br>
            <a:br>
              <a:rPr lang="en-IN" sz="4000" b="1" dirty="0">
                <a:solidFill>
                  <a:srgbClr val="FF0000"/>
                </a:solidFill>
              </a:rPr>
            </a:br>
            <a:r>
              <a:rPr lang="en-IN" sz="3600" b="1" dirty="0">
                <a:solidFill>
                  <a:schemeClr val="tx1"/>
                </a:solidFill>
              </a:rPr>
              <a:t>Milestone 1</a:t>
            </a:r>
          </a:p>
        </p:txBody>
      </p:sp>
      <p:sp>
        <p:nvSpPr>
          <p:cNvPr id="3" name="Subtitle 2">
            <a:extLst>
              <a:ext uri="{FF2B5EF4-FFF2-40B4-BE49-F238E27FC236}">
                <a16:creationId xmlns:a16="http://schemas.microsoft.com/office/drawing/2014/main" id="{5C48D9F0-01F5-49EA-987C-6403B879600E}"/>
              </a:ext>
            </a:extLst>
          </p:cNvPr>
          <p:cNvSpPr>
            <a:spLocks noGrp="1"/>
          </p:cNvSpPr>
          <p:nvPr>
            <p:ph type="subTitle" idx="1"/>
          </p:nvPr>
        </p:nvSpPr>
        <p:spPr>
          <a:xfrm>
            <a:off x="2692398" y="4513006"/>
            <a:ext cx="6815669" cy="806246"/>
          </a:xfrm>
        </p:spPr>
        <p:txBody>
          <a:bodyPr>
            <a:normAutofit fontScale="92500"/>
          </a:bodyPr>
          <a:lstStyle/>
          <a:p>
            <a:r>
              <a:rPr lang="en-IN" dirty="0"/>
              <a:t>BY </a:t>
            </a:r>
          </a:p>
          <a:p>
            <a:r>
              <a:rPr lang="en-IN" dirty="0"/>
              <a:t>Prathyusha Yekamba</a:t>
            </a:r>
          </a:p>
        </p:txBody>
      </p:sp>
    </p:spTree>
    <p:extLst>
      <p:ext uri="{BB962C8B-B14F-4D97-AF65-F5344CB8AC3E}">
        <p14:creationId xmlns:p14="http://schemas.microsoft.com/office/powerpoint/2010/main" val="2673648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8516F-5B27-4130-9F51-09FD1CD308D9}"/>
              </a:ext>
            </a:extLst>
          </p:cNvPr>
          <p:cNvSpPr>
            <a:spLocks noGrp="1"/>
          </p:cNvSpPr>
          <p:nvPr>
            <p:ph type="title"/>
          </p:nvPr>
        </p:nvSpPr>
        <p:spPr>
          <a:xfrm>
            <a:off x="1295402" y="1386348"/>
            <a:ext cx="9601196" cy="1160207"/>
          </a:xfrm>
        </p:spPr>
        <p:txBody>
          <a:bodyPr/>
          <a:lstStyle/>
          <a:p>
            <a:r>
              <a:rPr lang="en-IN" b="1" dirty="0">
                <a:solidFill>
                  <a:srgbClr val="FF0000"/>
                </a:solidFill>
              </a:rPr>
              <a:t>Meaning of the Title</a:t>
            </a:r>
          </a:p>
        </p:txBody>
      </p:sp>
      <p:sp>
        <p:nvSpPr>
          <p:cNvPr id="3" name="Content Placeholder 2">
            <a:extLst>
              <a:ext uri="{FF2B5EF4-FFF2-40B4-BE49-F238E27FC236}">
                <a16:creationId xmlns:a16="http://schemas.microsoft.com/office/drawing/2014/main" id="{5DDDD03D-90CC-E94E-9EC6-E34D68FEEAD6}"/>
              </a:ext>
            </a:extLst>
          </p:cNvPr>
          <p:cNvSpPr>
            <a:spLocks noGrp="1"/>
          </p:cNvSpPr>
          <p:nvPr>
            <p:ph idx="1"/>
          </p:nvPr>
        </p:nvSpPr>
        <p:spPr>
          <a:xfrm>
            <a:off x="1295401" y="2428568"/>
            <a:ext cx="9601196" cy="3447300"/>
          </a:xfrm>
        </p:spPr>
        <p:txBody>
          <a:bodyPr>
            <a:noAutofit/>
          </a:bodyPr>
          <a:lstStyle/>
          <a:p>
            <a:r>
              <a:rPr lang="en-US" b="1" dirty="0"/>
              <a:t>Inventra</a:t>
            </a:r>
            <a:endParaRPr lang="en-US" dirty="0"/>
          </a:p>
          <a:p>
            <a:r>
              <a:rPr lang="en-US" dirty="0"/>
              <a:t>“Invent” → Inventory</a:t>
            </a:r>
          </a:p>
          <a:p>
            <a:r>
              <a:rPr lang="en-US" dirty="0"/>
              <a:t>“Tra” → Tracking</a:t>
            </a:r>
          </a:p>
          <a:p>
            <a:r>
              <a:rPr lang="en-US" dirty="0"/>
              <a:t>The name represents an </a:t>
            </a:r>
            <a:r>
              <a:rPr lang="en-US" b="1" dirty="0"/>
              <a:t>intelligent, automated platform</a:t>
            </a:r>
            <a:r>
              <a:rPr lang="en-US" dirty="0"/>
              <a:t> for tracking inventory, stock movements, alerts, and analytics.</a:t>
            </a:r>
          </a:p>
          <a:p>
            <a:r>
              <a:rPr lang="en-US" b="1" dirty="0"/>
              <a:t>Meaning:</a:t>
            </a:r>
            <a:br>
              <a:rPr lang="en-US" dirty="0"/>
            </a:br>
            <a:r>
              <a:rPr lang="en-US" dirty="0"/>
              <a:t>Inventra is a smart system that </a:t>
            </a:r>
            <a:r>
              <a:rPr lang="en-US" b="1" dirty="0"/>
              <a:t>manages stock, predicts shortages, tracks movement, and automates alerts</a:t>
            </a:r>
            <a:r>
              <a:rPr lang="en-US" dirty="0"/>
              <a:t>, ensuring efficient inventory control.</a:t>
            </a:r>
          </a:p>
          <a:p>
            <a:endParaRPr lang="en-IN" dirty="0"/>
          </a:p>
        </p:txBody>
      </p:sp>
    </p:spTree>
    <p:extLst>
      <p:ext uri="{BB962C8B-B14F-4D97-AF65-F5344CB8AC3E}">
        <p14:creationId xmlns:p14="http://schemas.microsoft.com/office/powerpoint/2010/main" val="2523679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A6151-6720-8593-6621-7BD4041442B6}"/>
              </a:ext>
            </a:extLst>
          </p:cNvPr>
          <p:cNvSpPr>
            <a:spLocks noGrp="1"/>
          </p:cNvSpPr>
          <p:nvPr>
            <p:ph type="title"/>
          </p:nvPr>
        </p:nvSpPr>
        <p:spPr/>
        <p:txBody>
          <a:bodyPr/>
          <a:lstStyle/>
          <a:p>
            <a:r>
              <a:rPr lang="en-IN" b="1" dirty="0">
                <a:solidFill>
                  <a:srgbClr val="FF0000"/>
                </a:solidFill>
              </a:rPr>
              <a:t>Existing System</a:t>
            </a:r>
          </a:p>
        </p:txBody>
      </p:sp>
      <p:sp>
        <p:nvSpPr>
          <p:cNvPr id="3" name="Content Placeholder 2">
            <a:extLst>
              <a:ext uri="{FF2B5EF4-FFF2-40B4-BE49-F238E27FC236}">
                <a16:creationId xmlns:a16="http://schemas.microsoft.com/office/drawing/2014/main" id="{0F40A346-C49E-97AF-F03F-018A013F8678}"/>
              </a:ext>
            </a:extLst>
          </p:cNvPr>
          <p:cNvSpPr>
            <a:spLocks noGrp="1"/>
          </p:cNvSpPr>
          <p:nvPr>
            <p:ph idx="1"/>
          </p:nvPr>
        </p:nvSpPr>
        <p:spPr>
          <a:xfrm>
            <a:off x="1295402" y="2045110"/>
            <a:ext cx="9601196" cy="3830758"/>
          </a:xfrm>
        </p:spPr>
        <p:txBody>
          <a:bodyPr>
            <a:noAutofit/>
          </a:bodyPr>
          <a:lstStyle/>
          <a:p>
            <a:pPr marL="0" indent="0">
              <a:buNone/>
            </a:pPr>
            <a:r>
              <a:rPr lang="en-US" b="1" dirty="0"/>
              <a:t>Problems in Traditional Inventory Systems</a:t>
            </a:r>
            <a:endParaRPr lang="en-US" dirty="0"/>
          </a:p>
          <a:p>
            <a:r>
              <a:rPr lang="en-US" dirty="0"/>
              <a:t>Mostly manual and paper-based.</a:t>
            </a:r>
          </a:p>
          <a:p>
            <a:r>
              <a:rPr lang="en-US" dirty="0"/>
              <a:t>High chances of human error.</a:t>
            </a:r>
          </a:p>
          <a:p>
            <a:r>
              <a:rPr lang="en-US" dirty="0"/>
              <a:t>No real-time stock visibility.</a:t>
            </a:r>
          </a:p>
          <a:p>
            <a:r>
              <a:rPr lang="en-US" dirty="0"/>
              <a:t>No forecasting → leads to overstock or stockouts.</a:t>
            </a:r>
          </a:p>
          <a:p>
            <a:r>
              <a:rPr lang="en-US" dirty="0"/>
              <a:t>Poor communication between departments.</a:t>
            </a:r>
          </a:p>
          <a:p>
            <a:r>
              <a:rPr lang="en-US" dirty="0"/>
              <a:t>No automated alerts for expiry, reorder level, or shortages.</a:t>
            </a:r>
          </a:p>
          <a:p>
            <a:r>
              <a:rPr lang="en-US" dirty="0"/>
              <a:t>Time-consuming stock audit.</a:t>
            </a:r>
          </a:p>
          <a:p>
            <a:pPr marL="0" indent="0">
              <a:buNone/>
            </a:pPr>
            <a:endParaRPr lang="en-IN" dirty="0"/>
          </a:p>
        </p:txBody>
      </p:sp>
    </p:spTree>
    <p:extLst>
      <p:ext uri="{BB962C8B-B14F-4D97-AF65-F5344CB8AC3E}">
        <p14:creationId xmlns:p14="http://schemas.microsoft.com/office/powerpoint/2010/main" val="454689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BB678-781A-970F-EC21-5CB7BAC80D52}"/>
              </a:ext>
            </a:extLst>
          </p:cNvPr>
          <p:cNvSpPr>
            <a:spLocks noGrp="1"/>
          </p:cNvSpPr>
          <p:nvPr>
            <p:ph type="title"/>
          </p:nvPr>
        </p:nvSpPr>
        <p:spPr/>
        <p:txBody>
          <a:bodyPr/>
          <a:lstStyle/>
          <a:p>
            <a:r>
              <a:rPr lang="en-IN" b="1" dirty="0">
                <a:solidFill>
                  <a:srgbClr val="FF0000"/>
                </a:solidFill>
              </a:rPr>
              <a:t>Proposed System</a:t>
            </a:r>
          </a:p>
        </p:txBody>
      </p:sp>
      <p:sp>
        <p:nvSpPr>
          <p:cNvPr id="3" name="Content Placeholder 2">
            <a:extLst>
              <a:ext uri="{FF2B5EF4-FFF2-40B4-BE49-F238E27FC236}">
                <a16:creationId xmlns:a16="http://schemas.microsoft.com/office/drawing/2014/main" id="{A7359CB7-C025-F502-3E06-2A9D1B4DC7FE}"/>
              </a:ext>
            </a:extLst>
          </p:cNvPr>
          <p:cNvSpPr>
            <a:spLocks noGrp="1"/>
          </p:cNvSpPr>
          <p:nvPr>
            <p:ph idx="1"/>
          </p:nvPr>
        </p:nvSpPr>
        <p:spPr>
          <a:xfrm>
            <a:off x="1295401" y="1976284"/>
            <a:ext cx="9601196" cy="3899584"/>
          </a:xfrm>
        </p:spPr>
        <p:txBody>
          <a:bodyPr>
            <a:noAutofit/>
          </a:bodyPr>
          <a:lstStyle/>
          <a:p>
            <a:pPr marL="0" indent="0">
              <a:buNone/>
            </a:pPr>
            <a:r>
              <a:rPr lang="en-US" sz="2200" b="1" dirty="0"/>
              <a:t>Proposed System – Inventra </a:t>
            </a:r>
          </a:p>
          <a:p>
            <a:r>
              <a:rPr lang="en-US" sz="2200" dirty="0"/>
              <a:t>Fully automated, software-driven inventory tracking</a:t>
            </a:r>
          </a:p>
          <a:p>
            <a:r>
              <a:rPr lang="en-US" sz="2200" dirty="0"/>
              <a:t>AI-based demand forecasting</a:t>
            </a:r>
          </a:p>
          <a:p>
            <a:r>
              <a:rPr lang="en-US" sz="2200" dirty="0"/>
              <a:t>Real-time stock updates and movement history</a:t>
            </a:r>
          </a:p>
          <a:p>
            <a:r>
              <a:rPr lang="en-US" sz="2200" dirty="0"/>
              <a:t>Automated alerts for:</a:t>
            </a:r>
          </a:p>
          <a:p>
            <a:pPr lvl="1"/>
            <a:r>
              <a:rPr lang="en-US" sz="2200" dirty="0"/>
              <a:t>Low stock</a:t>
            </a:r>
          </a:p>
          <a:p>
            <a:pPr lvl="1"/>
            <a:r>
              <a:rPr lang="en-US" sz="2200" dirty="0"/>
              <a:t>Expiry near</a:t>
            </a:r>
          </a:p>
          <a:p>
            <a:pPr lvl="1"/>
            <a:r>
              <a:rPr lang="en-US" sz="2200" dirty="0"/>
              <a:t>Fast/slow-moving items</a:t>
            </a:r>
          </a:p>
          <a:p>
            <a:r>
              <a:rPr lang="en-US" sz="2200" dirty="0"/>
              <a:t>Detailed analytics and reports</a:t>
            </a:r>
          </a:p>
          <a:p>
            <a:endParaRPr lang="en-IN" sz="2200" dirty="0"/>
          </a:p>
        </p:txBody>
      </p:sp>
    </p:spTree>
    <p:extLst>
      <p:ext uri="{BB962C8B-B14F-4D97-AF65-F5344CB8AC3E}">
        <p14:creationId xmlns:p14="http://schemas.microsoft.com/office/powerpoint/2010/main" val="1200637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6E69E-885B-A776-FC86-6DF08876F6B1}"/>
              </a:ext>
            </a:extLst>
          </p:cNvPr>
          <p:cNvSpPr>
            <a:spLocks noGrp="1"/>
          </p:cNvSpPr>
          <p:nvPr>
            <p:ph type="title"/>
          </p:nvPr>
        </p:nvSpPr>
        <p:spPr/>
        <p:txBody>
          <a:bodyPr/>
          <a:lstStyle/>
          <a:p>
            <a:r>
              <a:rPr lang="en-IN" b="1" dirty="0">
                <a:solidFill>
                  <a:srgbClr val="FF0000"/>
                </a:solidFill>
              </a:rPr>
              <a:t>Modules of Inventra </a:t>
            </a:r>
          </a:p>
        </p:txBody>
      </p:sp>
      <p:sp>
        <p:nvSpPr>
          <p:cNvPr id="3" name="Content Placeholder 2">
            <a:extLst>
              <a:ext uri="{FF2B5EF4-FFF2-40B4-BE49-F238E27FC236}">
                <a16:creationId xmlns:a16="http://schemas.microsoft.com/office/drawing/2014/main" id="{B0F840B6-6DB5-6B96-C10E-C19DB8F7764E}"/>
              </a:ext>
            </a:extLst>
          </p:cNvPr>
          <p:cNvSpPr>
            <a:spLocks noGrp="1"/>
          </p:cNvSpPr>
          <p:nvPr>
            <p:ph idx="1"/>
          </p:nvPr>
        </p:nvSpPr>
        <p:spPr/>
        <p:txBody>
          <a:bodyPr/>
          <a:lstStyle/>
          <a:p>
            <a:r>
              <a:rPr lang="en-IN" b="1" dirty="0"/>
              <a:t>Authentication</a:t>
            </a:r>
            <a:r>
              <a:rPr lang="en-IN" dirty="0"/>
              <a:t> – Login, token generation, role validation</a:t>
            </a:r>
          </a:p>
          <a:p>
            <a:r>
              <a:rPr lang="en-IN" b="1" dirty="0"/>
              <a:t>Product / Inventory Management</a:t>
            </a:r>
            <a:r>
              <a:rPr lang="en-IN" dirty="0"/>
              <a:t> – Add, update, remove items, manage stock levels</a:t>
            </a:r>
          </a:p>
          <a:p>
            <a:r>
              <a:rPr lang="en-IN" b="1" dirty="0"/>
              <a:t>Inventory Alerts</a:t>
            </a:r>
            <a:r>
              <a:rPr lang="en-IN" dirty="0"/>
              <a:t> – Low stock, expiry alerts, fast/slow moving items</a:t>
            </a:r>
          </a:p>
          <a:p>
            <a:r>
              <a:rPr lang="en-IN" b="1" dirty="0"/>
              <a:t>Reports &amp; Analytics</a:t>
            </a:r>
            <a:r>
              <a:rPr lang="en-IN" dirty="0"/>
              <a:t> – Charts, predictions, insights</a:t>
            </a:r>
          </a:p>
          <a:p>
            <a:pPr marL="0" indent="0">
              <a:buNone/>
            </a:pPr>
            <a:endParaRPr lang="en-IN" dirty="0"/>
          </a:p>
        </p:txBody>
      </p:sp>
    </p:spTree>
    <p:extLst>
      <p:ext uri="{BB962C8B-B14F-4D97-AF65-F5344CB8AC3E}">
        <p14:creationId xmlns:p14="http://schemas.microsoft.com/office/powerpoint/2010/main" val="2271157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FA665-279B-BAEE-CEFA-DEF84D62C01C}"/>
              </a:ext>
            </a:extLst>
          </p:cNvPr>
          <p:cNvSpPr>
            <a:spLocks noGrp="1"/>
          </p:cNvSpPr>
          <p:nvPr>
            <p:ph type="title"/>
          </p:nvPr>
        </p:nvSpPr>
        <p:spPr/>
        <p:txBody>
          <a:bodyPr/>
          <a:lstStyle/>
          <a:p>
            <a:r>
              <a:rPr lang="en-IN" b="1" dirty="0">
                <a:solidFill>
                  <a:srgbClr val="FF0000"/>
                </a:solidFill>
              </a:rPr>
              <a:t>Working of Each Module</a:t>
            </a:r>
          </a:p>
        </p:txBody>
      </p:sp>
      <p:sp>
        <p:nvSpPr>
          <p:cNvPr id="3" name="Content Placeholder 2">
            <a:extLst>
              <a:ext uri="{FF2B5EF4-FFF2-40B4-BE49-F238E27FC236}">
                <a16:creationId xmlns:a16="http://schemas.microsoft.com/office/drawing/2014/main" id="{2697D651-1C65-C3D0-88F6-3F28B1D7ADF3}"/>
              </a:ext>
            </a:extLst>
          </p:cNvPr>
          <p:cNvSpPr>
            <a:spLocks noGrp="1"/>
          </p:cNvSpPr>
          <p:nvPr>
            <p:ph idx="1"/>
          </p:nvPr>
        </p:nvSpPr>
        <p:spPr>
          <a:xfrm>
            <a:off x="1295401" y="2369574"/>
            <a:ext cx="9601196" cy="3506294"/>
          </a:xfrm>
        </p:spPr>
        <p:txBody>
          <a:bodyPr>
            <a:noAutofit/>
          </a:bodyPr>
          <a:lstStyle/>
          <a:p>
            <a:pPr marL="0" indent="0">
              <a:buNone/>
            </a:pPr>
            <a:r>
              <a:rPr lang="en-IN" sz="2000" b="1" dirty="0"/>
              <a:t>Authentication Module</a:t>
            </a:r>
            <a:endParaRPr lang="en-IN" sz="2000" dirty="0"/>
          </a:p>
          <a:p>
            <a:r>
              <a:rPr lang="en-IN" sz="2000" dirty="0"/>
              <a:t>Validates username &amp; password</a:t>
            </a:r>
          </a:p>
          <a:p>
            <a:r>
              <a:rPr lang="en-IN" sz="2000" dirty="0"/>
              <a:t>Generates secure session tokens</a:t>
            </a:r>
          </a:p>
          <a:p>
            <a:r>
              <a:rPr lang="en-IN" sz="2000" dirty="0"/>
              <a:t>Allows access based on user roles (Admin/Manager/Staff)</a:t>
            </a:r>
          </a:p>
          <a:p>
            <a:pPr marL="0" indent="0">
              <a:buNone/>
            </a:pPr>
            <a:r>
              <a:rPr lang="en-IN" sz="2000" b="1" dirty="0"/>
              <a:t>Product / Inventory Management</a:t>
            </a:r>
            <a:endParaRPr lang="en-IN" sz="2000" dirty="0"/>
          </a:p>
          <a:p>
            <a:r>
              <a:rPr lang="en-IN" sz="2000" dirty="0"/>
              <a:t>Add new items to inventory</a:t>
            </a:r>
          </a:p>
          <a:p>
            <a:r>
              <a:rPr lang="en-IN" sz="2000" dirty="0"/>
              <a:t>Update item quantity, expiry date</a:t>
            </a:r>
          </a:p>
          <a:p>
            <a:r>
              <a:rPr lang="en-IN" sz="2000" dirty="0"/>
              <a:t>Track stock-in &amp; stock-out</a:t>
            </a:r>
          </a:p>
          <a:p>
            <a:r>
              <a:rPr lang="en-IN" sz="2000" dirty="0"/>
              <a:t>Store supplier and purchase details</a:t>
            </a:r>
          </a:p>
          <a:p>
            <a:endParaRPr lang="en-IN" sz="2000" dirty="0"/>
          </a:p>
        </p:txBody>
      </p:sp>
    </p:spTree>
    <p:extLst>
      <p:ext uri="{BB962C8B-B14F-4D97-AF65-F5344CB8AC3E}">
        <p14:creationId xmlns:p14="http://schemas.microsoft.com/office/powerpoint/2010/main" val="3536268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731E17-CFD5-CE57-162F-67301CC1D95D}"/>
              </a:ext>
            </a:extLst>
          </p:cNvPr>
          <p:cNvSpPr txBox="1"/>
          <p:nvPr/>
        </p:nvSpPr>
        <p:spPr>
          <a:xfrm>
            <a:off x="1101213" y="505794"/>
            <a:ext cx="8613058" cy="5580182"/>
          </a:xfrm>
          <a:prstGeom prst="rect">
            <a:avLst/>
          </a:prstGeom>
          <a:noFill/>
        </p:spPr>
        <p:txBody>
          <a:bodyPr wrap="square">
            <a:spAutoFit/>
          </a:bodyPr>
          <a:lstStyle/>
          <a:p>
            <a:pPr>
              <a:lnSpc>
                <a:spcPct val="150000"/>
              </a:lnSpc>
              <a:buNone/>
            </a:pPr>
            <a:r>
              <a:rPr lang="en-US" sz="2400" b="1" dirty="0"/>
              <a:t>Inventory Alerts Module</a:t>
            </a:r>
            <a:endParaRPr lang="en-US" sz="2400" dirty="0"/>
          </a:p>
          <a:p>
            <a:pPr>
              <a:lnSpc>
                <a:spcPct val="150000"/>
              </a:lnSpc>
              <a:buFont typeface="Arial" panose="020B0604020202020204" pitchFamily="34" charset="0"/>
              <a:buChar char="•"/>
            </a:pPr>
            <a:r>
              <a:rPr lang="en-US" sz="2400" dirty="0"/>
              <a:t>Checks stock quantity automatically</a:t>
            </a:r>
          </a:p>
          <a:p>
            <a:pPr>
              <a:lnSpc>
                <a:spcPct val="150000"/>
              </a:lnSpc>
              <a:buFont typeface="Arial" panose="020B0604020202020204" pitchFamily="34" charset="0"/>
              <a:buChar char="•"/>
            </a:pPr>
            <a:r>
              <a:rPr lang="en-US" sz="2400" dirty="0"/>
              <a:t>Triggers low stock alerts</a:t>
            </a:r>
          </a:p>
          <a:p>
            <a:pPr>
              <a:lnSpc>
                <a:spcPct val="150000"/>
              </a:lnSpc>
              <a:buFont typeface="Arial" panose="020B0604020202020204" pitchFamily="34" charset="0"/>
              <a:buChar char="•"/>
            </a:pPr>
            <a:r>
              <a:rPr lang="en-US" sz="2400" dirty="0"/>
              <a:t>Warns when expiry date is near</a:t>
            </a:r>
          </a:p>
          <a:p>
            <a:pPr>
              <a:lnSpc>
                <a:spcPct val="150000"/>
              </a:lnSpc>
              <a:buFont typeface="Arial" panose="020B0604020202020204" pitchFamily="34" charset="0"/>
              <a:buChar char="•"/>
            </a:pPr>
            <a:r>
              <a:rPr lang="en-US" sz="2400" dirty="0"/>
              <a:t>Identifies slow or fast-moving items</a:t>
            </a:r>
          </a:p>
          <a:p>
            <a:pPr>
              <a:lnSpc>
                <a:spcPct val="150000"/>
              </a:lnSpc>
              <a:buNone/>
            </a:pPr>
            <a:r>
              <a:rPr lang="en-US" sz="2400" dirty="0"/>
              <a:t> </a:t>
            </a:r>
            <a:r>
              <a:rPr lang="en-US" sz="2400" b="1" dirty="0"/>
              <a:t>Reports &amp; Analytics Module</a:t>
            </a:r>
            <a:endParaRPr lang="en-US" sz="2400" dirty="0"/>
          </a:p>
          <a:p>
            <a:pPr>
              <a:lnSpc>
                <a:spcPct val="150000"/>
              </a:lnSpc>
              <a:buFont typeface="Arial" panose="020B0604020202020204" pitchFamily="34" charset="0"/>
              <a:buChar char="•"/>
            </a:pPr>
            <a:r>
              <a:rPr lang="en-US" sz="2400" dirty="0"/>
              <a:t>Generates graphical reports</a:t>
            </a:r>
          </a:p>
          <a:p>
            <a:pPr>
              <a:lnSpc>
                <a:spcPct val="150000"/>
              </a:lnSpc>
              <a:buFont typeface="Arial" panose="020B0604020202020204" pitchFamily="34" charset="0"/>
              <a:buChar char="•"/>
            </a:pPr>
            <a:r>
              <a:rPr lang="en-US" sz="2400" dirty="0"/>
              <a:t>Shows purchase/sales patterns</a:t>
            </a:r>
          </a:p>
          <a:p>
            <a:pPr>
              <a:lnSpc>
                <a:spcPct val="150000"/>
              </a:lnSpc>
              <a:buFont typeface="Arial" panose="020B0604020202020204" pitchFamily="34" charset="0"/>
              <a:buChar char="•"/>
            </a:pPr>
            <a:r>
              <a:rPr lang="en-US" sz="2400" dirty="0"/>
              <a:t>Predicts demand</a:t>
            </a:r>
          </a:p>
          <a:p>
            <a:pPr>
              <a:lnSpc>
                <a:spcPct val="150000"/>
              </a:lnSpc>
              <a:buFont typeface="Arial" panose="020B0604020202020204" pitchFamily="34" charset="0"/>
              <a:buChar char="•"/>
            </a:pPr>
            <a:r>
              <a:rPr lang="en-US" sz="2400" dirty="0"/>
              <a:t>Exportable reports for audit</a:t>
            </a:r>
          </a:p>
        </p:txBody>
      </p:sp>
    </p:spTree>
    <p:extLst>
      <p:ext uri="{BB962C8B-B14F-4D97-AF65-F5344CB8AC3E}">
        <p14:creationId xmlns:p14="http://schemas.microsoft.com/office/powerpoint/2010/main" val="2765534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2C7F9-EC7A-D166-498E-9E868DE78914}"/>
              </a:ext>
            </a:extLst>
          </p:cNvPr>
          <p:cNvSpPr>
            <a:spLocks noGrp="1"/>
          </p:cNvSpPr>
          <p:nvPr>
            <p:ph type="title"/>
          </p:nvPr>
        </p:nvSpPr>
        <p:spPr/>
        <p:txBody>
          <a:bodyPr/>
          <a:lstStyle/>
          <a:p>
            <a:r>
              <a:rPr lang="en-IN" b="1" dirty="0">
                <a:solidFill>
                  <a:srgbClr val="FF0000"/>
                </a:solidFill>
              </a:rPr>
              <a:t>System Configuration</a:t>
            </a:r>
            <a:endParaRPr lang="en-IN" dirty="0"/>
          </a:p>
        </p:txBody>
      </p:sp>
      <p:sp>
        <p:nvSpPr>
          <p:cNvPr id="3" name="Content Placeholder 2">
            <a:extLst>
              <a:ext uri="{FF2B5EF4-FFF2-40B4-BE49-F238E27FC236}">
                <a16:creationId xmlns:a16="http://schemas.microsoft.com/office/drawing/2014/main" id="{C1476E14-48B8-B6CF-9C6E-2755519E894C}"/>
              </a:ext>
            </a:extLst>
          </p:cNvPr>
          <p:cNvSpPr>
            <a:spLocks noGrp="1"/>
          </p:cNvSpPr>
          <p:nvPr>
            <p:ph sz="half" idx="1"/>
          </p:nvPr>
        </p:nvSpPr>
        <p:spPr/>
        <p:txBody>
          <a:bodyPr>
            <a:normAutofit lnSpcReduction="10000"/>
          </a:bodyPr>
          <a:lstStyle/>
          <a:p>
            <a:pPr marL="0" indent="0">
              <a:buNone/>
            </a:pPr>
            <a:r>
              <a:rPr lang="en-US" b="1" dirty="0"/>
              <a:t>Hardware Requirements</a:t>
            </a:r>
          </a:p>
          <a:p>
            <a:r>
              <a:rPr lang="en-US" dirty="0"/>
              <a:t>Processor : Intel i3 or above</a:t>
            </a:r>
          </a:p>
          <a:p>
            <a:r>
              <a:rPr lang="en-US" dirty="0"/>
              <a:t>RAM : 4 GB or more</a:t>
            </a:r>
          </a:p>
          <a:p>
            <a:r>
              <a:rPr lang="en-US" dirty="0"/>
              <a:t>Hard Disk : 20 GB</a:t>
            </a:r>
          </a:p>
          <a:p>
            <a:r>
              <a:rPr lang="en-US" dirty="0"/>
              <a:t>Monitor, Keyboard, Mouse</a:t>
            </a:r>
          </a:p>
          <a:p>
            <a:endParaRPr lang="en-IN" dirty="0"/>
          </a:p>
        </p:txBody>
      </p:sp>
      <p:sp>
        <p:nvSpPr>
          <p:cNvPr id="4" name="Content Placeholder 3">
            <a:extLst>
              <a:ext uri="{FF2B5EF4-FFF2-40B4-BE49-F238E27FC236}">
                <a16:creationId xmlns:a16="http://schemas.microsoft.com/office/drawing/2014/main" id="{B8E53A1F-C082-E74B-560D-17827C705F92}"/>
              </a:ext>
            </a:extLst>
          </p:cNvPr>
          <p:cNvSpPr>
            <a:spLocks noGrp="1"/>
          </p:cNvSpPr>
          <p:nvPr>
            <p:ph sz="half" idx="2"/>
          </p:nvPr>
        </p:nvSpPr>
        <p:spPr/>
        <p:txBody>
          <a:bodyPr>
            <a:normAutofit lnSpcReduction="10000"/>
          </a:bodyPr>
          <a:lstStyle/>
          <a:p>
            <a:pPr marL="0" indent="0">
              <a:buNone/>
            </a:pPr>
            <a:r>
              <a:rPr lang="en-IN" b="1" dirty="0"/>
              <a:t>Software Requirements</a:t>
            </a:r>
          </a:p>
          <a:p>
            <a:r>
              <a:rPr lang="en-IN" dirty="0"/>
              <a:t>Operating System : Windows / Linux</a:t>
            </a:r>
          </a:p>
          <a:p>
            <a:r>
              <a:rPr lang="en-IN" dirty="0"/>
              <a:t>Backend : Node.js / Java</a:t>
            </a:r>
          </a:p>
          <a:p>
            <a:r>
              <a:rPr lang="en-IN" dirty="0"/>
              <a:t>Database : MySQL / MongoDB</a:t>
            </a:r>
          </a:p>
          <a:p>
            <a:r>
              <a:rPr lang="en-IN" dirty="0"/>
              <a:t>Tools : VS Code, Postman</a:t>
            </a:r>
          </a:p>
          <a:p>
            <a:r>
              <a:rPr lang="en-IN" dirty="0"/>
              <a:t>Server : Localhost / Cloud Hosting</a:t>
            </a:r>
          </a:p>
          <a:p>
            <a:endParaRPr lang="en-IN" dirty="0"/>
          </a:p>
        </p:txBody>
      </p:sp>
    </p:spTree>
    <p:extLst>
      <p:ext uri="{BB962C8B-B14F-4D97-AF65-F5344CB8AC3E}">
        <p14:creationId xmlns:p14="http://schemas.microsoft.com/office/powerpoint/2010/main" val="636534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D5E7C-82F6-D043-9AE0-371CF83C3245}"/>
              </a:ext>
            </a:extLst>
          </p:cNvPr>
          <p:cNvSpPr>
            <a:spLocks noGrp="1"/>
          </p:cNvSpPr>
          <p:nvPr>
            <p:ph type="title"/>
          </p:nvPr>
        </p:nvSpPr>
        <p:spPr/>
        <p:txBody>
          <a:bodyPr/>
          <a:lstStyle/>
          <a:p>
            <a:r>
              <a:rPr lang="en-IN" b="1" dirty="0">
                <a:solidFill>
                  <a:srgbClr val="FF0000"/>
                </a:solidFill>
              </a:rPr>
              <a:t>Classes</a:t>
            </a:r>
          </a:p>
        </p:txBody>
      </p:sp>
      <p:sp>
        <p:nvSpPr>
          <p:cNvPr id="4" name="Rectangle 1">
            <a:extLst>
              <a:ext uri="{FF2B5EF4-FFF2-40B4-BE49-F238E27FC236}">
                <a16:creationId xmlns:a16="http://schemas.microsoft.com/office/drawing/2014/main" id="{EF9A8790-D6B8-085E-68EB-3E559AA5A3F3}"/>
              </a:ext>
            </a:extLst>
          </p:cNvPr>
          <p:cNvSpPr>
            <a:spLocks noGrp="1" noChangeArrowheads="1"/>
          </p:cNvSpPr>
          <p:nvPr>
            <p:ph idx="1"/>
          </p:nvPr>
        </p:nvSpPr>
        <p:spPr bwMode="auto">
          <a:xfrm>
            <a:off x="1374059" y="2603169"/>
            <a:ext cx="8597867" cy="2793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User</a:t>
            </a:r>
            <a:r>
              <a:rPr kumimoji="0" lang="en-US" altLang="en-US" b="0" i="0" u="none" strike="noStrike" cap="none" normalizeH="0" baseline="0" dirty="0">
                <a:ln>
                  <a:noFill/>
                </a:ln>
                <a:solidFill>
                  <a:schemeClr val="tx1"/>
                </a:solidFill>
                <a:effectLst/>
                <a:latin typeface="Arial" panose="020B0604020202020204" pitchFamily="34" charset="0"/>
              </a:rPr>
              <a:t> – Represents user data stored in the database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AuthController</a:t>
            </a:r>
            <a:r>
              <a:rPr kumimoji="0" lang="en-US" altLang="en-US" b="0" i="0" u="none" strike="noStrike" cap="none" normalizeH="0" baseline="0" dirty="0">
                <a:ln>
                  <a:noFill/>
                </a:ln>
                <a:solidFill>
                  <a:schemeClr val="tx1"/>
                </a:solidFill>
                <a:effectLst/>
                <a:latin typeface="Arial" panose="020B0604020202020204" pitchFamily="34" charset="0"/>
              </a:rPr>
              <a:t> – Exposes API endpoints like </a:t>
            </a:r>
            <a:r>
              <a:rPr kumimoji="0" lang="en-US" altLang="en-US" b="0" i="0" u="none" strike="noStrike" cap="none" normalizeH="0" baseline="0" dirty="0">
                <a:ln>
                  <a:noFill/>
                </a:ln>
                <a:solidFill>
                  <a:schemeClr val="tx1"/>
                </a:solidFill>
                <a:effectLst/>
                <a:latin typeface="Arial Unicode MS"/>
              </a:rPr>
              <a:t>/login</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/register</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AuthService</a:t>
            </a:r>
            <a:r>
              <a:rPr kumimoji="0" lang="en-US" altLang="en-US" b="0" i="0" u="none" strike="noStrike" cap="none" normalizeH="0" baseline="0" dirty="0">
                <a:ln>
                  <a:noFill/>
                </a:ln>
                <a:solidFill>
                  <a:schemeClr val="tx1"/>
                </a:solidFill>
                <a:effectLst/>
                <a:latin typeface="Arial" panose="020B0604020202020204" pitchFamily="34" charset="0"/>
              </a:rPr>
              <a:t> – Handles authentication logic &amp; error handling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JwtProvider</a:t>
            </a:r>
            <a:r>
              <a:rPr kumimoji="0" lang="en-US" altLang="en-US" b="0" i="0" u="none" strike="noStrike" cap="none" normalizeH="0" baseline="0" dirty="0">
                <a:ln>
                  <a:noFill/>
                </a:ln>
                <a:solidFill>
                  <a:schemeClr val="tx1"/>
                </a:solidFill>
                <a:effectLst/>
                <a:latin typeface="Arial" panose="020B0604020202020204" pitchFamily="34" charset="0"/>
              </a:rPr>
              <a:t> – Generates secure tokens for sessions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UserRepository</a:t>
            </a:r>
            <a:r>
              <a:rPr kumimoji="0" lang="en-US" altLang="en-US" b="0" i="0" u="none" strike="noStrike" cap="none" normalizeH="0" baseline="0" dirty="0">
                <a:ln>
                  <a:noFill/>
                </a:ln>
                <a:solidFill>
                  <a:schemeClr val="tx1"/>
                </a:solidFill>
                <a:effectLst/>
                <a:latin typeface="Arial" panose="020B0604020202020204" pitchFamily="34" charset="0"/>
              </a:rPr>
              <a:t> – Performs CRUD operations on user data</a:t>
            </a:r>
          </a:p>
        </p:txBody>
      </p:sp>
    </p:spTree>
    <p:extLst>
      <p:ext uri="{BB962C8B-B14F-4D97-AF65-F5344CB8AC3E}">
        <p14:creationId xmlns:p14="http://schemas.microsoft.com/office/powerpoint/2010/main" val="3149363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B508-E6BD-5E13-1272-5486156D7620}"/>
              </a:ext>
            </a:extLst>
          </p:cNvPr>
          <p:cNvSpPr>
            <a:spLocks noGrp="1"/>
          </p:cNvSpPr>
          <p:nvPr>
            <p:ph type="title"/>
          </p:nvPr>
        </p:nvSpPr>
        <p:spPr/>
        <p:txBody>
          <a:bodyPr/>
          <a:lstStyle/>
          <a:p>
            <a:r>
              <a:rPr lang="en-IN" b="1" dirty="0">
                <a:solidFill>
                  <a:srgbClr val="FF0000"/>
                </a:solidFill>
              </a:rPr>
              <a:t>Uses of Each Class</a:t>
            </a:r>
          </a:p>
        </p:txBody>
      </p:sp>
      <p:sp>
        <p:nvSpPr>
          <p:cNvPr id="3" name="Content Placeholder 2">
            <a:extLst>
              <a:ext uri="{FF2B5EF4-FFF2-40B4-BE49-F238E27FC236}">
                <a16:creationId xmlns:a16="http://schemas.microsoft.com/office/drawing/2014/main" id="{F987E3BC-A368-4283-30CB-C52080F5D1F6}"/>
              </a:ext>
            </a:extLst>
          </p:cNvPr>
          <p:cNvSpPr>
            <a:spLocks noGrp="1"/>
          </p:cNvSpPr>
          <p:nvPr>
            <p:ph sz="half" idx="1"/>
          </p:nvPr>
        </p:nvSpPr>
        <p:spPr>
          <a:xfrm>
            <a:off x="1298447" y="2560318"/>
            <a:ext cx="5004029" cy="3722495"/>
          </a:xfrm>
        </p:spPr>
        <p:txBody>
          <a:bodyPr>
            <a:normAutofit fontScale="77500" lnSpcReduction="20000"/>
          </a:bodyPr>
          <a:lstStyle/>
          <a:p>
            <a:pPr marL="0" indent="0">
              <a:buNone/>
            </a:pPr>
            <a:r>
              <a:rPr lang="en-US" b="1" dirty="0"/>
              <a:t>User</a:t>
            </a:r>
          </a:p>
          <a:p>
            <a:r>
              <a:rPr lang="en-US" dirty="0"/>
              <a:t>Stores username, password, email, role</a:t>
            </a:r>
          </a:p>
          <a:p>
            <a:r>
              <a:rPr lang="en-US" dirty="0"/>
              <a:t>Mapped to database table</a:t>
            </a:r>
          </a:p>
          <a:p>
            <a:pPr marL="0" indent="0">
              <a:buNone/>
            </a:pPr>
            <a:r>
              <a:rPr lang="en-US" b="1" dirty="0" err="1"/>
              <a:t>AuthController</a:t>
            </a:r>
            <a:endParaRPr lang="en-US" b="1" dirty="0"/>
          </a:p>
          <a:p>
            <a:r>
              <a:rPr lang="en-US" dirty="0"/>
              <a:t>Receives login requests</a:t>
            </a:r>
          </a:p>
          <a:p>
            <a:r>
              <a:rPr lang="en-US" dirty="0"/>
              <a:t>Sends responses to frontend</a:t>
            </a:r>
          </a:p>
          <a:p>
            <a:r>
              <a:rPr lang="en-US" dirty="0"/>
              <a:t>Connects service → UI</a:t>
            </a:r>
          </a:p>
          <a:p>
            <a:pPr marL="0" indent="0">
              <a:buNone/>
            </a:pPr>
            <a:r>
              <a:rPr lang="en-IN" b="1" dirty="0" err="1"/>
              <a:t>JwtProvider</a:t>
            </a:r>
            <a:endParaRPr lang="en-IN" b="1" dirty="0"/>
          </a:p>
          <a:p>
            <a:r>
              <a:rPr lang="en-IN" dirty="0"/>
              <a:t>Creates and verifies JSON Web Tokens</a:t>
            </a:r>
          </a:p>
          <a:p>
            <a:r>
              <a:rPr lang="en-IN" dirty="0"/>
              <a:t>Ensures secure login sessions</a:t>
            </a:r>
          </a:p>
          <a:p>
            <a:endParaRPr lang="en-IN" dirty="0"/>
          </a:p>
        </p:txBody>
      </p:sp>
      <p:sp>
        <p:nvSpPr>
          <p:cNvPr id="4" name="Content Placeholder 3">
            <a:extLst>
              <a:ext uri="{FF2B5EF4-FFF2-40B4-BE49-F238E27FC236}">
                <a16:creationId xmlns:a16="http://schemas.microsoft.com/office/drawing/2014/main" id="{A3093FD1-EDD2-6B73-0FEE-25E795902B59}"/>
              </a:ext>
            </a:extLst>
          </p:cNvPr>
          <p:cNvSpPr>
            <a:spLocks noGrp="1"/>
          </p:cNvSpPr>
          <p:nvPr>
            <p:ph sz="half" idx="2"/>
          </p:nvPr>
        </p:nvSpPr>
        <p:spPr/>
        <p:txBody>
          <a:bodyPr>
            <a:noAutofit/>
          </a:bodyPr>
          <a:lstStyle/>
          <a:p>
            <a:pPr marL="0" indent="0">
              <a:buNone/>
            </a:pPr>
            <a:r>
              <a:rPr lang="en-IN" sz="2000" b="1" dirty="0" err="1"/>
              <a:t>AuthService</a:t>
            </a:r>
            <a:endParaRPr lang="en-IN" sz="2000" b="1" dirty="0"/>
          </a:p>
          <a:p>
            <a:r>
              <a:rPr lang="en-IN" sz="2000" dirty="0"/>
              <a:t>Validates user credentials</a:t>
            </a:r>
          </a:p>
          <a:p>
            <a:r>
              <a:rPr lang="en-IN" sz="2000" dirty="0"/>
              <a:t>Encrypts passwords</a:t>
            </a:r>
          </a:p>
          <a:p>
            <a:r>
              <a:rPr lang="en-IN" sz="2000" dirty="0"/>
              <a:t>Handles login/logout functionality</a:t>
            </a:r>
          </a:p>
          <a:p>
            <a:pPr marL="0" indent="0">
              <a:buNone/>
            </a:pPr>
            <a:r>
              <a:rPr lang="en-IN" sz="2000" b="1" dirty="0" err="1"/>
              <a:t>UserRepository</a:t>
            </a:r>
            <a:endParaRPr lang="en-IN" sz="2000" b="1" dirty="0"/>
          </a:p>
          <a:p>
            <a:r>
              <a:rPr lang="en-IN" sz="2000" dirty="0"/>
              <a:t>Manages user database operations</a:t>
            </a:r>
          </a:p>
          <a:p>
            <a:r>
              <a:rPr lang="en-IN" sz="2000" dirty="0"/>
              <a:t>Insert / Update / Delete / Fetch users</a:t>
            </a:r>
          </a:p>
          <a:p>
            <a:endParaRPr lang="en-IN" sz="2000" dirty="0"/>
          </a:p>
        </p:txBody>
      </p:sp>
    </p:spTree>
    <p:extLst>
      <p:ext uri="{BB962C8B-B14F-4D97-AF65-F5344CB8AC3E}">
        <p14:creationId xmlns:p14="http://schemas.microsoft.com/office/powerpoint/2010/main" val="3174484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C8060F-D3EF-6F45-1474-B4711B62A014}"/>
              </a:ext>
            </a:extLst>
          </p:cNvPr>
          <p:cNvSpPr txBox="1"/>
          <p:nvPr/>
        </p:nvSpPr>
        <p:spPr>
          <a:xfrm>
            <a:off x="4031226" y="877218"/>
            <a:ext cx="6115664" cy="707886"/>
          </a:xfrm>
          <a:prstGeom prst="rect">
            <a:avLst/>
          </a:prstGeom>
          <a:noFill/>
        </p:spPr>
        <p:txBody>
          <a:bodyPr wrap="square">
            <a:spAutoFit/>
          </a:bodyPr>
          <a:lstStyle/>
          <a:p>
            <a:r>
              <a:rPr lang="en-IN" sz="4000" b="1" dirty="0">
                <a:solidFill>
                  <a:srgbClr val="FF0000"/>
                </a:solidFill>
              </a:rPr>
              <a:t>Database Schema</a:t>
            </a:r>
          </a:p>
        </p:txBody>
      </p:sp>
      <p:graphicFrame>
        <p:nvGraphicFramePr>
          <p:cNvPr id="4" name="Table 3">
            <a:extLst>
              <a:ext uri="{FF2B5EF4-FFF2-40B4-BE49-F238E27FC236}">
                <a16:creationId xmlns:a16="http://schemas.microsoft.com/office/drawing/2014/main" id="{1C566E62-4EDE-3830-B88D-2E08C4F6E513}"/>
              </a:ext>
            </a:extLst>
          </p:cNvPr>
          <p:cNvGraphicFramePr>
            <a:graphicFrameLocks noGrp="1"/>
          </p:cNvGraphicFramePr>
          <p:nvPr>
            <p:extLst>
              <p:ext uri="{D42A27DB-BD31-4B8C-83A1-F6EECF244321}">
                <p14:modId xmlns:p14="http://schemas.microsoft.com/office/powerpoint/2010/main" val="1487501205"/>
              </p:ext>
            </p:extLst>
          </p:nvPr>
        </p:nvGraphicFramePr>
        <p:xfrm>
          <a:off x="1691148" y="2035277"/>
          <a:ext cx="9205452" cy="3461283"/>
        </p:xfrm>
        <a:graphic>
          <a:graphicData uri="http://schemas.openxmlformats.org/drawingml/2006/table">
            <a:tbl>
              <a:tblPr/>
              <a:tblGrid>
                <a:gridCol w="3068484">
                  <a:extLst>
                    <a:ext uri="{9D8B030D-6E8A-4147-A177-3AD203B41FA5}">
                      <a16:colId xmlns:a16="http://schemas.microsoft.com/office/drawing/2014/main" val="2778213968"/>
                    </a:ext>
                  </a:extLst>
                </a:gridCol>
                <a:gridCol w="3068484">
                  <a:extLst>
                    <a:ext uri="{9D8B030D-6E8A-4147-A177-3AD203B41FA5}">
                      <a16:colId xmlns:a16="http://schemas.microsoft.com/office/drawing/2014/main" val="764867851"/>
                    </a:ext>
                  </a:extLst>
                </a:gridCol>
                <a:gridCol w="3068484">
                  <a:extLst>
                    <a:ext uri="{9D8B030D-6E8A-4147-A177-3AD203B41FA5}">
                      <a16:colId xmlns:a16="http://schemas.microsoft.com/office/drawing/2014/main" val="3029431442"/>
                    </a:ext>
                  </a:extLst>
                </a:gridCol>
              </a:tblGrid>
              <a:tr h="494469">
                <a:tc>
                  <a:txBody>
                    <a:bodyPr/>
                    <a:lstStyle/>
                    <a:p>
                      <a:pPr>
                        <a:buNone/>
                      </a:pPr>
                      <a:r>
                        <a:rPr lang="en-IN" b="1"/>
                        <a:t>Field</a:t>
                      </a:r>
                      <a:endParaRPr lang="en-IN"/>
                    </a:p>
                  </a:txBody>
                  <a:tcPr anchor="ctr">
                    <a:lnL>
                      <a:noFill/>
                    </a:lnL>
                    <a:lnR>
                      <a:noFill/>
                    </a:lnR>
                    <a:lnT>
                      <a:noFill/>
                    </a:lnT>
                    <a:lnB>
                      <a:noFill/>
                    </a:lnB>
                    <a:noFill/>
                  </a:tcPr>
                </a:tc>
                <a:tc>
                  <a:txBody>
                    <a:bodyPr/>
                    <a:lstStyle/>
                    <a:p>
                      <a:pPr>
                        <a:buNone/>
                      </a:pPr>
                      <a:r>
                        <a:rPr lang="en-IN" b="1"/>
                        <a:t>Type</a:t>
                      </a:r>
                      <a:endParaRPr lang="en-IN"/>
                    </a:p>
                  </a:txBody>
                  <a:tcPr anchor="ctr">
                    <a:lnL>
                      <a:noFill/>
                    </a:lnL>
                    <a:lnR>
                      <a:noFill/>
                    </a:lnR>
                    <a:lnT>
                      <a:noFill/>
                    </a:lnT>
                    <a:lnB>
                      <a:noFill/>
                    </a:lnB>
                    <a:noFill/>
                  </a:tcPr>
                </a:tc>
                <a:tc>
                  <a:txBody>
                    <a:bodyPr/>
                    <a:lstStyle/>
                    <a:p>
                      <a:pPr>
                        <a:buNone/>
                      </a:pPr>
                      <a:r>
                        <a:rPr lang="en-IN" b="1"/>
                        <a:t>Description</a:t>
                      </a:r>
                      <a:endParaRPr lang="en-IN"/>
                    </a:p>
                  </a:txBody>
                  <a:tcPr anchor="ctr">
                    <a:lnL>
                      <a:noFill/>
                    </a:lnL>
                    <a:lnR>
                      <a:noFill/>
                    </a:lnR>
                    <a:lnT>
                      <a:noFill/>
                    </a:lnT>
                    <a:lnB>
                      <a:noFill/>
                    </a:lnB>
                    <a:noFill/>
                  </a:tcPr>
                </a:tc>
                <a:extLst>
                  <a:ext uri="{0D108BD9-81ED-4DB2-BD59-A6C34878D82A}">
                    <a16:rowId xmlns:a16="http://schemas.microsoft.com/office/drawing/2014/main" val="1989768331"/>
                  </a:ext>
                </a:extLst>
              </a:tr>
              <a:tr h="494469">
                <a:tc>
                  <a:txBody>
                    <a:bodyPr/>
                    <a:lstStyle/>
                    <a:p>
                      <a:pPr>
                        <a:buNone/>
                      </a:pPr>
                      <a:r>
                        <a:rPr lang="en-IN"/>
                        <a:t>userid</a:t>
                      </a:r>
                    </a:p>
                  </a:txBody>
                  <a:tcPr anchor="ctr">
                    <a:lnL>
                      <a:noFill/>
                    </a:lnL>
                    <a:lnR>
                      <a:noFill/>
                    </a:lnR>
                    <a:lnT>
                      <a:noFill/>
                    </a:lnT>
                    <a:lnB>
                      <a:noFill/>
                    </a:lnB>
                    <a:noFill/>
                  </a:tcPr>
                </a:tc>
                <a:tc>
                  <a:txBody>
                    <a:bodyPr/>
                    <a:lstStyle/>
                    <a:p>
                      <a:pPr>
                        <a:buNone/>
                      </a:pPr>
                      <a:r>
                        <a:rPr lang="en-IN"/>
                        <a:t>Primary Key</a:t>
                      </a:r>
                    </a:p>
                  </a:txBody>
                  <a:tcPr anchor="ctr">
                    <a:lnL>
                      <a:noFill/>
                    </a:lnL>
                    <a:lnR>
                      <a:noFill/>
                    </a:lnR>
                    <a:lnT>
                      <a:noFill/>
                    </a:lnT>
                    <a:lnB>
                      <a:noFill/>
                    </a:lnB>
                    <a:noFill/>
                  </a:tcPr>
                </a:tc>
                <a:tc>
                  <a:txBody>
                    <a:bodyPr/>
                    <a:lstStyle/>
                    <a:p>
                      <a:pPr>
                        <a:buNone/>
                      </a:pPr>
                      <a:r>
                        <a:rPr lang="en-IN"/>
                        <a:t>Unique user ID</a:t>
                      </a:r>
                    </a:p>
                  </a:txBody>
                  <a:tcPr anchor="ctr">
                    <a:lnL>
                      <a:noFill/>
                    </a:lnL>
                    <a:lnR>
                      <a:noFill/>
                    </a:lnR>
                    <a:lnT>
                      <a:noFill/>
                    </a:lnT>
                    <a:lnB>
                      <a:noFill/>
                    </a:lnB>
                    <a:noFill/>
                  </a:tcPr>
                </a:tc>
                <a:extLst>
                  <a:ext uri="{0D108BD9-81ED-4DB2-BD59-A6C34878D82A}">
                    <a16:rowId xmlns:a16="http://schemas.microsoft.com/office/drawing/2014/main" val="3130314449"/>
                  </a:ext>
                </a:extLst>
              </a:tr>
              <a:tr h="494469">
                <a:tc>
                  <a:txBody>
                    <a:bodyPr/>
                    <a:lstStyle/>
                    <a:p>
                      <a:pPr>
                        <a:buNone/>
                      </a:pPr>
                      <a:r>
                        <a:rPr lang="en-IN" dirty="0"/>
                        <a:t>username</a:t>
                      </a:r>
                    </a:p>
                  </a:txBody>
                  <a:tcPr anchor="ctr">
                    <a:lnL>
                      <a:noFill/>
                    </a:lnL>
                    <a:lnR>
                      <a:noFill/>
                    </a:lnR>
                    <a:lnT>
                      <a:noFill/>
                    </a:lnT>
                    <a:lnB>
                      <a:noFill/>
                    </a:lnB>
                    <a:noFill/>
                  </a:tcPr>
                </a:tc>
                <a:tc>
                  <a:txBody>
                    <a:bodyPr/>
                    <a:lstStyle/>
                    <a:p>
                      <a:pPr>
                        <a:buNone/>
                      </a:pPr>
                      <a:r>
                        <a:rPr lang="en-IN" dirty="0"/>
                        <a:t>Varchar</a:t>
                      </a:r>
                    </a:p>
                  </a:txBody>
                  <a:tcPr anchor="ctr">
                    <a:lnL>
                      <a:noFill/>
                    </a:lnL>
                    <a:lnR>
                      <a:noFill/>
                    </a:lnR>
                    <a:lnT>
                      <a:noFill/>
                    </a:lnT>
                    <a:lnB>
                      <a:noFill/>
                    </a:lnB>
                    <a:noFill/>
                  </a:tcPr>
                </a:tc>
                <a:tc>
                  <a:txBody>
                    <a:bodyPr/>
                    <a:lstStyle/>
                    <a:p>
                      <a:pPr>
                        <a:buNone/>
                      </a:pPr>
                      <a:r>
                        <a:rPr lang="en-IN"/>
                        <a:t>Unique username</a:t>
                      </a:r>
                    </a:p>
                  </a:txBody>
                  <a:tcPr anchor="ctr">
                    <a:lnL>
                      <a:noFill/>
                    </a:lnL>
                    <a:lnR>
                      <a:noFill/>
                    </a:lnR>
                    <a:lnT>
                      <a:noFill/>
                    </a:lnT>
                    <a:lnB>
                      <a:noFill/>
                    </a:lnB>
                    <a:noFill/>
                  </a:tcPr>
                </a:tc>
                <a:extLst>
                  <a:ext uri="{0D108BD9-81ED-4DB2-BD59-A6C34878D82A}">
                    <a16:rowId xmlns:a16="http://schemas.microsoft.com/office/drawing/2014/main" val="2582486560"/>
                  </a:ext>
                </a:extLst>
              </a:tr>
              <a:tr h="494469">
                <a:tc>
                  <a:txBody>
                    <a:bodyPr/>
                    <a:lstStyle/>
                    <a:p>
                      <a:pPr>
                        <a:buNone/>
                      </a:pPr>
                      <a:r>
                        <a:rPr lang="en-IN"/>
                        <a:t>email</a:t>
                      </a:r>
                    </a:p>
                  </a:txBody>
                  <a:tcPr anchor="ctr">
                    <a:lnL>
                      <a:noFill/>
                    </a:lnL>
                    <a:lnR>
                      <a:noFill/>
                    </a:lnR>
                    <a:lnT>
                      <a:noFill/>
                    </a:lnT>
                    <a:lnB>
                      <a:noFill/>
                    </a:lnB>
                    <a:noFill/>
                  </a:tcPr>
                </a:tc>
                <a:tc>
                  <a:txBody>
                    <a:bodyPr/>
                    <a:lstStyle/>
                    <a:p>
                      <a:pPr>
                        <a:buNone/>
                      </a:pPr>
                      <a:r>
                        <a:rPr lang="en-IN"/>
                        <a:t>Varchar</a:t>
                      </a:r>
                    </a:p>
                  </a:txBody>
                  <a:tcPr anchor="ctr">
                    <a:lnL>
                      <a:noFill/>
                    </a:lnL>
                    <a:lnR>
                      <a:noFill/>
                    </a:lnR>
                    <a:lnT>
                      <a:noFill/>
                    </a:lnT>
                    <a:lnB>
                      <a:noFill/>
                    </a:lnB>
                    <a:noFill/>
                  </a:tcPr>
                </a:tc>
                <a:tc>
                  <a:txBody>
                    <a:bodyPr/>
                    <a:lstStyle/>
                    <a:p>
                      <a:pPr>
                        <a:buNone/>
                      </a:pPr>
                      <a:r>
                        <a:rPr lang="en-IN"/>
                        <a:t>Email address</a:t>
                      </a:r>
                    </a:p>
                  </a:txBody>
                  <a:tcPr anchor="ctr">
                    <a:lnL>
                      <a:noFill/>
                    </a:lnL>
                    <a:lnR>
                      <a:noFill/>
                    </a:lnR>
                    <a:lnT>
                      <a:noFill/>
                    </a:lnT>
                    <a:lnB>
                      <a:noFill/>
                    </a:lnB>
                    <a:noFill/>
                  </a:tcPr>
                </a:tc>
                <a:extLst>
                  <a:ext uri="{0D108BD9-81ED-4DB2-BD59-A6C34878D82A}">
                    <a16:rowId xmlns:a16="http://schemas.microsoft.com/office/drawing/2014/main" val="3607834818"/>
                  </a:ext>
                </a:extLst>
              </a:tr>
              <a:tr h="494469">
                <a:tc>
                  <a:txBody>
                    <a:bodyPr/>
                    <a:lstStyle/>
                    <a:p>
                      <a:pPr>
                        <a:buNone/>
                      </a:pPr>
                      <a:r>
                        <a:rPr lang="en-IN"/>
                        <a:t>password</a:t>
                      </a:r>
                    </a:p>
                  </a:txBody>
                  <a:tcPr anchor="ctr">
                    <a:lnL>
                      <a:noFill/>
                    </a:lnL>
                    <a:lnR>
                      <a:noFill/>
                    </a:lnR>
                    <a:lnT>
                      <a:noFill/>
                    </a:lnT>
                    <a:lnB>
                      <a:noFill/>
                    </a:lnB>
                    <a:noFill/>
                  </a:tcPr>
                </a:tc>
                <a:tc>
                  <a:txBody>
                    <a:bodyPr/>
                    <a:lstStyle/>
                    <a:p>
                      <a:pPr>
                        <a:buNone/>
                      </a:pPr>
                      <a:r>
                        <a:rPr lang="en-IN" dirty="0"/>
                        <a:t>Varchar</a:t>
                      </a:r>
                    </a:p>
                  </a:txBody>
                  <a:tcPr anchor="ctr">
                    <a:lnL>
                      <a:noFill/>
                    </a:lnL>
                    <a:lnR>
                      <a:noFill/>
                    </a:lnR>
                    <a:lnT>
                      <a:noFill/>
                    </a:lnT>
                    <a:lnB>
                      <a:noFill/>
                    </a:lnB>
                    <a:noFill/>
                  </a:tcPr>
                </a:tc>
                <a:tc>
                  <a:txBody>
                    <a:bodyPr/>
                    <a:lstStyle/>
                    <a:p>
                      <a:pPr>
                        <a:buNone/>
                      </a:pPr>
                      <a:r>
                        <a:rPr lang="en-IN"/>
                        <a:t>Encrypted password</a:t>
                      </a:r>
                    </a:p>
                  </a:txBody>
                  <a:tcPr anchor="ctr">
                    <a:lnL>
                      <a:noFill/>
                    </a:lnL>
                    <a:lnR>
                      <a:noFill/>
                    </a:lnR>
                    <a:lnT>
                      <a:noFill/>
                    </a:lnT>
                    <a:lnB>
                      <a:noFill/>
                    </a:lnB>
                    <a:noFill/>
                  </a:tcPr>
                </a:tc>
                <a:extLst>
                  <a:ext uri="{0D108BD9-81ED-4DB2-BD59-A6C34878D82A}">
                    <a16:rowId xmlns:a16="http://schemas.microsoft.com/office/drawing/2014/main" val="3428666550"/>
                  </a:ext>
                </a:extLst>
              </a:tr>
              <a:tr h="494469">
                <a:tc>
                  <a:txBody>
                    <a:bodyPr/>
                    <a:lstStyle/>
                    <a:p>
                      <a:pPr>
                        <a:buNone/>
                      </a:pPr>
                      <a:r>
                        <a:rPr lang="en-IN"/>
                        <a:t>role</a:t>
                      </a:r>
                    </a:p>
                  </a:txBody>
                  <a:tcPr anchor="ctr">
                    <a:lnL>
                      <a:noFill/>
                    </a:lnL>
                    <a:lnR>
                      <a:noFill/>
                    </a:lnR>
                    <a:lnT>
                      <a:noFill/>
                    </a:lnT>
                    <a:lnB>
                      <a:noFill/>
                    </a:lnB>
                    <a:noFill/>
                  </a:tcPr>
                </a:tc>
                <a:tc>
                  <a:txBody>
                    <a:bodyPr/>
                    <a:lstStyle/>
                    <a:p>
                      <a:pPr>
                        <a:buNone/>
                      </a:pPr>
                      <a:r>
                        <a:rPr lang="en-IN"/>
                        <a:t>Varchar</a:t>
                      </a:r>
                    </a:p>
                  </a:txBody>
                  <a:tcPr anchor="ctr">
                    <a:lnL>
                      <a:noFill/>
                    </a:lnL>
                    <a:lnR>
                      <a:noFill/>
                    </a:lnR>
                    <a:lnT>
                      <a:noFill/>
                    </a:lnT>
                    <a:lnB>
                      <a:noFill/>
                    </a:lnB>
                    <a:noFill/>
                  </a:tcPr>
                </a:tc>
                <a:tc>
                  <a:txBody>
                    <a:bodyPr/>
                    <a:lstStyle/>
                    <a:p>
                      <a:pPr>
                        <a:buNone/>
                      </a:pPr>
                      <a:r>
                        <a:rPr lang="en-IN"/>
                        <a:t>Admin / Manager / Staff</a:t>
                      </a:r>
                    </a:p>
                  </a:txBody>
                  <a:tcPr anchor="ctr">
                    <a:lnL>
                      <a:noFill/>
                    </a:lnL>
                    <a:lnR>
                      <a:noFill/>
                    </a:lnR>
                    <a:lnT>
                      <a:noFill/>
                    </a:lnT>
                    <a:lnB>
                      <a:noFill/>
                    </a:lnB>
                    <a:noFill/>
                  </a:tcPr>
                </a:tc>
                <a:extLst>
                  <a:ext uri="{0D108BD9-81ED-4DB2-BD59-A6C34878D82A}">
                    <a16:rowId xmlns:a16="http://schemas.microsoft.com/office/drawing/2014/main" val="2381554124"/>
                  </a:ext>
                </a:extLst>
              </a:tr>
              <a:tr h="494469">
                <a:tc>
                  <a:txBody>
                    <a:bodyPr/>
                    <a:lstStyle/>
                    <a:p>
                      <a:pPr>
                        <a:buNone/>
                      </a:pPr>
                      <a:r>
                        <a:rPr lang="en-IN"/>
                        <a:t>is_active</a:t>
                      </a:r>
                    </a:p>
                  </a:txBody>
                  <a:tcPr anchor="ctr">
                    <a:lnL>
                      <a:noFill/>
                    </a:lnL>
                    <a:lnR>
                      <a:noFill/>
                    </a:lnR>
                    <a:lnT>
                      <a:noFill/>
                    </a:lnT>
                    <a:lnB>
                      <a:noFill/>
                    </a:lnB>
                    <a:noFill/>
                  </a:tcPr>
                </a:tc>
                <a:tc>
                  <a:txBody>
                    <a:bodyPr/>
                    <a:lstStyle/>
                    <a:p>
                      <a:pPr>
                        <a:buNone/>
                      </a:pPr>
                      <a:r>
                        <a:rPr lang="en-IN"/>
                        <a:t>Boolean</a:t>
                      </a:r>
                    </a:p>
                  </a:txBody>
                  <a:tcPr anchor="ctr">
                    <a:lnL>
                      <a:noFill/>
                    </a:lnL>
                    <a:lnR>
                      <a:noFill/>
                    </a:lnR>
                    <a:lnT>
                      <a:noFill/>
                    </a:lnT>
                    <a:lnB>
                      <a:noFill/>
                    </a:lnB>
                    <a:noFill/>
                  </a:tcPr>
                </a:tc>
                <a:tc>
                  <a:txBody>
                    <a:bodyPr/>
                    <a:lstStyle/>
                    <a:p>
                      <a:pPr>
                        <a:buNone/>
                      </a:pPr>
                      <a:r>
                        <a:rPr lang="en-IN" dirty="0"/>
                        <a:t>Account status</a:t>
                      </a:r>
                    </a:p>
                  </a:txBody>
                  <a:tcPr anchor="ctr">
                    <a:lnL>
                      <a:noFill/>
                    </a:lnL>
                    <a:lnR>
                      <a:noFill/>
                    </a:lnR>
                    <a:lnT>
                      <a:noFill/>
                    </a:lnT>
                    <a:lnB>
                      <a:noFill/>
                    </a:lnB>
                    <a:noFill/>
                  </a:tcPr>
                </a:tc>
                <a:extLst>
                  <a:ext uri="{0D108BD9-81ED-4DB2-BD59-A6C34878D82A}">
                    <a16:rowId xmlns:a16="http://schemas.microsoft.com/office/drawing/2014/main" val="1676783739"/>
                  </a:ext>
                </a:extLst>
              </a:tr>
            </a:tbl>
          </a:graphicData>
        </a:graphic>
      </p:graphicFrame>
    </p:spTree>
    <p:extLst>
      <p:ext uri="{BB962C8B-B14F-4D97-AF65-F5344CB8AC3E}">
        <p14:creationId xmlns:p14="http://schemas.microsoft.com/office/powerpoint/2010/main" val="1016969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118DD2-B232-865A-132A-06148FDEA818}"/>
              </a:ext>
            </a:extLst>
          </p:cNvPr>
          <p:cNvPicPr>
            <a:picLocks noChangeAspect="1"/>
          </p:cNvPicPr>
          <p:nvPr/>
        </p:nvPicPr>
        <p:blipFill>
          <a:blip r:embed="rId2"/>
          <a:stretch>
            <a:fillRect/>
          </a:stretch>
        </p:blipFill>
        <p:spPr>
          <a:xfrm>
            <a:off x="8260325" y="1487128"/>
            <a:ext cx="3035710" cy="3883743"/>
          </a:xfrm>
          <a:prstGeom prst="rect">
            <a:avLst/>
          </a:prstGeom>
        </p:spPr>
      </p:pic>
      <p:sp>
        <p:nvSpPr>
          <p:cNvPr id="5" name="TextBox 4">
            <a:extLst>
              <a:ext uri="{FF2B5EF4-FFF2-40B4-BE49-F238E27FC236}">
                <a16:creationId xmlns:a16="http://schemas.microsoft.com/office/drawing/2014/main" id="{5A20890E-8919-BD53-99D6-F01F3CF07486}"/>
              </a:ext>
            </a:extLst>
          </p:cNvPr>
          <p:cNvSpPr txBox="1"/>
          <p:nvPr/>
        </p:nvSpPr>
        <p:spPr>
          <a:xfrm>
            <a:off x="1032388" y="1833743"/>
            <a:ext cx="7452851" cy="3370153"/>
          </a:xfrm>
          <a:prstGeom prst="rect">
            <a:avLst/>
          </a:prstGeom>
          <a:noFill/>
        </p:spPr>
        <p:txBody>
          <a:bodyPr wrap="square">
            <a:spAutoFit/>
          </a:bodyPr>
          <a:lstStyle/>
          <a:p>
            <a:pPr>
              <a:lnSpc>
                <a:spcPct val="150000"/>
              </a:lnSpc>
              <a:buNone/>
            </a:pPr>
            <a:r>
              <a:rPr lang="en-IN" sz="2400" dirty="0"/>
              <a:t>This code handles </a:t>
            </a:r>
            <a:r>
              <a:rPr lang="en-IN" sz="2400" b="1" dirty="0"/>
              <a:t>login and signup</a:t>
            </a:r>
            <a:r>
              <a:rPr lang="en-IN" sz="2400" dirty="0"/>
              <a:t> in Node.js.</a:t>
            </a:r>
          </a:p>
          <a:p>
            <a:pPr>
              <a:lnSpc>
                <a:spcPct val="150000"/>
              </a:lnSpc>
              <a:buFont typeface="Arial" panose="020B0604020202020204" pitchFamily="34" charset="0"/>
              <a:buChar char="•"/>
            </a:pPr>
            <a:r>
              <a:rPr lang="en-IN" sz="2400" dirty="0"/>
              <a:t>It imports </a:t>
            </a:r>
            <a:r>
              <a:rPr lang="en-IN" sz="2400" dirty="0">
                <a:latin typeface="Courier New" panose="02070309020205020404" pitchFamily="49" charset="0"/>
              </a:rPr>
              <a:t>express</a:t>
            </a:r>
            <a:r>
              <a:rPr lang="en-IN" sz="2400" dirty="0"/>
              <a:t>, </a:t>
            </a:r>
            <a:r>
              <a:rPr lang="en-IN" sz="2400" dirty="0" err="1">
                <a:latin typeface="Courier New" panose="02070309020205020404" pitchFamily="49" charset="0"/>
              </a:rPr>
              <a:t>jwt</a:t>
            </a:r>
            <a:r>
              <a:rPr lang="en-IN" sz="2400" dirty="0"/>
              <a:t>, and </a:t>
            </a:r>
            <a:r>
              <a:rPr lang="en-IN" sz="2400" dirty="0" err="1">
                <a:latin typeface="Courier New" panose="02070309020205020404" pitchFamily="49" charset="0"/>
              </a:rPr>
              <a:t>bcrypt</a:t>
            </a:r>
            <a:r>
              <a:rPr lang="en-IN" sz="2400" dirty="0"/>
              <a:t>.</a:t>
            </a:r>
          </a:p>
          <a:p>
            <a:pPr>
              <a:lnSpc>
                <a:spcPct val="150000"/>
              </a:lnSpc>
              <a:buFont typeface="Arial" panose="020B0604020202020204" pitchFamily="34" charset="0"/>
              <a:buChar char="•"/>
            </a:pPr>
            <a:r>
              <a:rPr lang="en-IN" sz="2400" dirty="0"/>
              <a:t>For </a:t>
            </a:r>
            <a:r>
              <a:rPr lang="en-IN" sz="2400" b="1" dirty="0"/>
              <a:t>login</a:t>
            </a:r>
            <a:r>
              <a:rPr lang="en-IN" sz="2400" dirty="0"/>
              <a:t>, it checks the user’s password using </a:t>
            </a:r>
            <a:r>
              <a:rPr lang="en-IN" sz="2400" dirty="0" err="1">
                <a:latin typeface="Courier New" panose="02070309020205020404" pitchFamily="49" charset="0"/>
              </a:rPr>
              <a:t>bcrypt.compare</a:t>
            </a:r>
            <a:r>
              <a:rPr lang="en-IN" sz="2400" dirty="0">
                <a:latin typeface="Courier New" panose="02070309020205020404" pitchFamily="49" charset="0"/>
              </a:rPr>
              <a:t>()</a:t>
            </a:r>
            <a:r>
              <a:rPr lang="en-IN" sz="2400" dirty="0"/>
              <a:t> and generates a </a:t>
            </a:r>
            <a:r>
              <a:rPr lang="en-IN" sz="2400" b="1" dirty="0"/>
              <a:t>JWT token</a:t>
            </a:r>
            <a:r>
              <a:rPr lang="en-IN" sz="2400" dirty="0"/>
              <a:t>.</a:t>
            </a:r>
          </a:p>
          <a:p>
            <a:pPr>
              <a:lnSpc>
                <a:spcPct val="150000"/>
              </a:lnSpc>
              <a:buFont typeface="Arial" panose="020B0604020202020204" pitchFamily="34" charset="0"/>
              <a:buChar char="•"/>
            </a:pPr>
            <a:r>
              <a:rPr lang="en-IN" sz="2400" dirty="0"/>
              <a:t>For </a:t>
            </a:r>
            <a:r>
              <a:rPr lang="en-IN" sz="2400" b="1" dirty="0"/>
              <a:t>signup</a:t>
            </a:r>
            <a:r>
              <a:rPr lang="en-IN" sz="2400" dirty="0"/>
              <a:t>, it </a:t>
            </a:r>
            <a:r>
              <a:rPr lang="en-IN" sz="2400" b="1" dirty="0"/>
              <a:t>hashes the password</a:t>
            </a:r>
            <a:r>
              <a:rPr lang="en-IN" sz="2400" dirty="0"/>
              <a:t> using </a:t>
            </a:r>
            <a:r>
              <a:rPr lang="en-IN" sz="2400" dirty="0" err="1">
                <a:latin typeface="Courier New" panose="02070309020205020404" pitchFamily="49" charset="0"/>
              </a:rPr>
              <a:t>bcrypt.hash</a:t>
            </a:r>
            <a:r>
              <a:rPr lang="en-IN" sz="2400" dirty="0">
                <a:latin typeface="Courier New" panose="02070309020205020404" pitchFamily="49" charset="0"/>
              </a:rPr>
              <a:t>()</a:t>
            </a:r>
            <a:r>
              <a:rPr lang="en-IN" sz="2400" dirty="0"/>
              <a:t> and saves the new user.</a:t>
            </a:r>
          </a:p>
        </p:txBody>
      </p:sp>
      <p:sp>
        <p:nvSpPr>
          <p:cNvPr id="7" name="TextBox 6">
            <a:extLst>
              <a:ext uri="{FF2B5EF4-FFF2-40B4-BE49-F238E27FC236}">
                <a16:creationId xmlns:a16="http://schemas.microsoft.com/office/drawing/2014/main" id="{B5D50D9C-C94D-0EBD-B6C3-D9E1015CDDE5}"/>
              </a:ext>
            </a:extLst>
          </p:cNvPr>
          <p:cNvSpPr txBox="1"/>
          <p:nvPr/>
        </p:nvSpPr>
        <p:spPr>
          <a:xfrm>
            <a:off x="2144661" y="958883"/>
            <a:ext cx="6115664" cy="707886"/>
          </a:xfrm>
          <a:prstGeom prst="rect">
            <a:avLst/>
          </a:prstGeom>
          <a:noFill/>
        </p:spPr>
        <p:txBody>
          <a:bodyPr wrap="square">
            <a:spAutoFit/>
          </a:bodyPr>
          <a:lstStyle/>
          <a:p>
            <a:r>
              <a:rPr lang="en-IN" sz="4000" b="1" dirty="0">
                <a:solidFill>
                  <a:srgbClr val="FF0000"/>
                </a:solidFill>
              </a:rPr>
              <a:t>Explanation of the Code </a:t>
            </a:r>
          </a:p>
        </p:txBody>
      </p:sp>
    </p:spTree>
    <p:extLst>
      <p:ext uri="{BB962C8B-B14F-4D97-AF65-F5344CB8AC3E}">
        <p14:creationId xmlns:p14="http://schemas.microsoft.com/office/powerpoint/2010/main" val="818980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ntroducing the MongoDB Document - Simple Talk">
            <a:extLst>
              <a:ext uri="{FF2B5EF4-FFF2-40B4-BE49-F238E27FC236}">
                <a16:creationId xmlns:a16="http://schemas.microsoft.com/office/drawing/2014/main" id="{34DEE3BE-8F71-A09E-0DEB-292336D63D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1109" y="1101213"/>
            <a:ext cx="7629782"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2992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5DFEB-97B5-1911-EA08-53FDF56D9569}"/>
              </a:ext>
            </a:extLst>
          </p:cNvPr>
          <p:cNvSpPr>
            <a:spLocks noGrp="1"/>
          </p:cNvSpPr>
          <p:nvPr>
            <p:ph type="title"/>
          </p:nvPr>
        </p:nvSpPr>
        <p:spPr>
          <a:xfrm>
            <a:off x="1295402" y="363794"/>
            <a:ext cx="9601196" cy="1366683"/>
          </a:xfrm>
        </p:spPr>
        <p:txBody>
          <a:bodyPr>
            <a:normAutofit/>
          </a:bodyPr>
          <a:lstStyle/>
          <a:p>
            <a:r>
              <a:rPr lang="en-IN" b="1" dirty="0">
                <a:solidFill>
                  <a:srgbClr val="FF0000"/>
                </a:solidFill>
              </a:rPr>
              <a:t>Login Output</a:t>
            </a:r>
          </a:p>
        </p:txBody>
      </p:sp>
      <p:pic>
        <p:nvPicPr>
          <p:cNvPr id="5122" name="Picture 2">
            <a:extLst>
              <a:ext uri="{FF2B5EF4-FFF2-40B4-BE49-F238E27FC236}">
                <a16:creationId xmlns:a16="http://schemas.microsoft.com/office/drawing/2014/main" id="{8EB8B324-3D3C-CDF5-4410-AB7B29E2FF3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35278" y="2251587"/>
            <a:ext cx="8121444" cy="3790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762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5FADF-32A6-FBC2-A126-EB181DDE4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8FB25-DE9D-6393-2770-07B833A8A541}"/>
              </a:ext>
            </a:extLst>
          </p:cNvPr>
          <p:cNvSpPr>
            <a:spLocks noGrp="1"/>
          </p:cNvSpPr>
          <p:nvPr>
            <p:ph type="ctrTitle"/>
          </p:nvPr>
        </p:nvSpPr>
        <p:spPr/>
        <p:txBody>
          <a:bodyPr/>
          <a:lstStyle/>
          <a:p>
            <a:r>
              <a:rPr lang="en-IN" sz="3600" b="1" dirty="0">
                <a:solidFill>
                  <a:srgbClr val="FF0000"/>
                </a:solidFill>
              </a:rPr>
              <a:t>Inventra – Intelligent Inventory Management System</a:t>
            </a:r>
          </a:p>
        </p:txBody>
      </p:sp>
      <p:sp>
        <p:nvSpPr>
          <p:cNvPr id="3" name="Subtitle 2">
            <a:extLst>
              <a:ext uri="{FF2B5EF4-FFF2-40B4-BE49-F238E27FC236}">
                <a16:creationId xmlns:a16="http://schemas.microsoft.com/office/drawing/2014/main" id="{2822616B-0086-12BE-F601-3C78C2E28429}"/>
              </a:ext>
            </a:extLst>
          </p:cNvPr>
          <p:cNvSpPr>
            <a:spLocks noGrp="1"/>
          </p:cNvSpPr>
          <p:nvPr>
            <p:ph type="subTitle" idx="1"/>
          </p:nvPr>
        </p:nvSpPr>
        <p:spPr/>
        <p:txBody>
          <a:bodyPr>
            <a:normAutofit/>
          </a:bodyPr>
          <a:lstStyle/>
          <a:p>
            <a:r>
              <a:rPr lang="en-IN" sz="4000" b="1" dirty="0"/>
              <a:t>Milestone 2</a:t>
            </a:r>
          </a:p>
        </p:txBody>
      </p:sp>
    </p:spTree>
    <p:extLst>
      <p:ext uri="{BB962C8B-B14F-4D97-AF65-F5344CB8AC3E}">
        <p14:creationId xmlns:p14="http://schemas.microsoft.com/office/powerpoint/2010/main" val="4293688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07255-7FE9-51A4-0F4E-A064D114F7F3}"/>
              </a:ext>
            </a:extLst>
          </p:cNvPr>
          <p:cNvSpPr>
            <a:spLocks noGrp="1"/>
          </p:cNvSpPr>
          <p:nvPr>
            <p:ph type="title"/>
          </p:nvPr>
        </p:nvSpPr>
        <p:spPr/>
        <p:txBody>
          <a:bodyPr/>
          <a:lstStyle/>
          <a:p>
            <a:r>
              <a:rPr lang="en-IN" dirty="0"/>
              <a:t>MODULE 2 INTRODUCTION</a:t>
            </a:r>
          </a:p>
        </p:txBody>
      </p:sp>
      <p:sp>
        <p:nvSpPr>
          <p:cNvPr id="3" name="Content Placeholder 2">
            <a:extLst>
              <a:ext uri="{FF2B5EF4-FFF2-40B4-BE49-F238E27FC236}">
                <a16:creationId xmlns:a16="http://schemas.microsoft.com/office/drawing/2014/main" id="{9EF5A8B5-1922-F4AD-CA9E-DF1E1CC62839}"/>
              </a:ext>
            </a:extLst>
          </p:cNvPr>
          <p:cNvSpPr>
            <a:spLocks noGrp="1"/>
          </p:cNvSpPr>
          <p:nvPr>
            <p:ph idx="1"/>
          </p:nvPr>
        </p:nvSpPr>
        <p:spPr/>
        <p:txBody>
          <a:bodyPr/>
          <a:lstStyle/>
          <a:p>
            <a:r>
              <a:rPr lang="en-US" b="1" dirty="0"/>
              <a:t>Module 2: Product / Inventory Management</a:t>
            </a:r>
          </a:p>
          <a:p>
            <a:r>
              <a:rPr lang="en-US" dirty="0"/>
              <a:t>This module manages:</a:t>
            </a:r>
          </a:p>
          <a:p>
            <a:r>
              <a:rPr lang="en-US" dirty="0"/>
              <a:t>Product details</a:t>
            </a:r>
          </a:p>
          <a:p>
            <a:r>
              <a:rPr lang="en-US" dirty="0"/>
              <a:t>Stock quantity</a:t>
            </a:r>
          </a:p>
          <a:p>
            <a:r>
              <a:rPr lang="en-US" dirty="0"/>
              <a:t>Supplier information</a:t>
            </a:r>
          </a:p>
          <a:p>
            <a:r>
              <a:rPr lang="en-US" dirty="0"/>
              <a:t>It ensures </a:t>
            </a:r>
            <a:r>
              <a:rPr lang="en-US" b="1" dirty="0"/>
              <a:t>accurate and consistent inventory management</a:t>
            </a:r>
            <a:r>
              <a:rPr lang="en-US" dirty="0"/>
              <a:t>.</a:t>
            </a:r>
          </a:p>
          <a:p>
            <a:endParaRPr lang="en-IN" dirty="0"/>
          </a:p>
        </p:txBody>
      </p:sp>
    </p:spTree>
    <p:extLst>
      <p:ext uri="{BB962C8B-B14F-4D97-AF65-F5344CB8AC3E}">
        <p14:creationId xmlns:p14="http://schemas.microsoft.com/office/powerpoint/2010/main" val="1070813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44A9E-7AA2-87D4-ECFC-DE92F3C8E77D}"/>
              </a:ext>
            </a:extLst>
          </p:cNvPr>
          <p:cNvSpPr>
            <a:spLocks noGrp="1"/>
          </p:cNvSpPr>
          <p:nvPr>
            <p:ph type="title"/>
          </p:nvPr>
        </p:nvSpPr>
        <p:spPr/>
        <p:txBody>
          <a:bodyPr/>
          <a:lstStyle/>
          <a:p>
            <a:r>
              <a:rPr lang="en-IN"/>
              <a:t>AUTHENTICATION MODULE </a:t>
            </a:r>
          </a:p>
        </p:txBody>
      </p:sp>
      <p:sp>
        <p:nvSpPr>
          <p:cNvPr id="3" name="Content Placeholder 2">
            <a:extLst>
              <a:ext uri="{FF2B5EF4-FFF2-40B4-BE49-F238E27FC236}">
                <a16:creationId xmlns:a16="http://schemas.microsoft.com/office/drawing/2014/main" id="{DAA94C6E-CF86-132F-76C2-0FAC7E923E10}"/>
              </a:ext>
            </a:extLst>
          </p:cNvPr>
          <p:cNvSpPr>
            <a:spLocks noGrp="1"/>
          </p:cNvSpPr>
          <p:nvPr>
            <p:ph idx="1"/>
          </p:nvPr>
        </p:nvSpPr>
        <p:spPr/>
        <p:txBody>
          <a:bodyPr/>
          <a:lstStyle/>
          <a:p>
            <a:r>
              <a:rPr lang="en-US" b="1" dirty="0"/>
              <a:t>Authentication Module Purpose</a:t>
            </a:r>
            <a:endParaRPr lang="en-US" dirty="0"/>
          </a:p>
          <a:p>
            <a:r>
              <a:rPr lang="en-US" dirty="0"/>
              <a:t>Secure system access</a:t>
            </a:r>
          </a:p>
          <a:p>
            <a:r>
              <a:rPr lang="en-US" dirty="0"/>
              <a:t>Validate user identity</a:t>
            </a:r>
          </a:p>
          <a:p>
            <a:r>
              <a:rPr lang="en-US" dirty="0"/>
              <a:t>Prevent unauthorized access</a:t>
            </a:r>
          </a:p>
          <a:p>
            <a:r>
              <a:rPr lang="en-US" dirty="0"/>
              <a:t>Generate secure session tokens</a:t>
            </a:r>
          </a:p>
          <a:p>
            <a:endParaRPr lang="en-IN" dirty="0"/>
          </a:p>
        </p:txBody>
      </p:sp>
    </p:spTree>
    <p:extLst>
      <p:ext uri="{BB962C8B-B14F-4D97-AF65-F5344CB8AC3E}">
        <p14:creationId xmlns:p14="http://schemas.microsoft.com/office/powerpoint/2010/main" val="3293012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A892E-C67C-519C-C1A6-4FD1E0DE4D54}"/>
              </a:ext>
            </a:extLst>
          </p:cNvPr>
          <p:cNvSpPr>
            <a:spLocks noGrp="1"/>
          </p:cNvSpPr>
          <p:nvPr>
            <p:ph type="title"/>
          </p:nvPr>
        </p:nvSpPr>
        <p:spPr>
          <a:xfrm>
            <a:off x="1295402" y="1317523"/>
            <a:ext cx="9601196" cy="968476"/>
          </a:xfrm>
        </p:spPr>
        <p:txBody>
          <a:bodyPr>
            <a:normAutofit fontScale="90000"/>
          </a:bodyPr>
          <a:lstStyle/>
          <a:p>
            <a:r>
              <a:rPr lang="en-IN" dirty="0"/>
              <a:t>SIGN UP CONTROLLER</a:t>
            </a:r>
            <a:br>
              <a:rPr lang="en-IN" dirty="0"/>
            </a:br>
            <a:endParaRPr lang="en-IN" dirty="0"/>
          </a:p>
        </p:txBody>
      </p:sp>
      <p:sp>
        <p:nvSpPr>
          <p:cNvPr id="4" name="Rectangle 1">
            <a:extLst>
              <a:ext uri="{FF2B5EF4-FFF2-40B4-BE49-F238E27FC236}">
                <a16:creationId xmlns:a16="http://schemas.microsoft.com/office/drawing/2014/main" id="{DC9107EC-791D-C66E-1E63-EDF97B399826}"/>
              </a:ext>
            </a:extLst>
          </p:cNvPr>
          <p:cNvSpPr>
            <a:spLocks noGrp="1" noChangeArrowheads="1"/>
          </p:cNvSpPr>
          <p:nvPr>
            <p:ph idx="1"/>
          </p:nvPr>
        </p:nvSpPr>
        <p:spPr bwMode="auto">
          <a:xfrm>
            <a:off x="1560872" y="2497294"/>
            <a:ext cx="3961341" cy="1668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Receives registration data from UI</a:t>
            </a:r>
          </a:p>
          <a:p>
            <a:pPr marR="0" lvl="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Forwards request to service layer</a:t>
            </a:r>
          </a:p>
          <a:p>
            <a:pPr marR="0" lvl="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 business logic written here</a:t>
            </a:r>
          </a:p>
        </p:txBody>
      </p:sp>
      <p:pic>
        <p:nvPicPr>
          <p:cNvPr id="6" name="Picture 5">
            <a:extLst>
              <a:ext uri="{FF2B5EF4-FFF2-40B4-BE49-F238E27FC236}">
                <a16:creationId xmlns:a16="http://schemas.microsoft.com/office/drawing/2014/main" id="{00C6A9B4-541B-E05F-6055-BF705140E722}"/>
              </a:ext>
            </a:extLst>
          </p:cNvPr>
          <p:cNvPicPr>
            <a:picLocks noChangeAspect="1"/>
          </p:cNvPicPr>
          <p:nvPr/>
        </p:nvPicPr>
        <p:blipFill>
          <a:blip r:embed="rId2"/>
          <a:stretch>
            <a:fillRect/>
          </a:stretch>
        </p:blipFill>
        <p:spPr>
          <a:xfrm>
            <a:off x="6304907" y="2691716"/>
            <a:ext cx="4591691" cy="2457793"/>
          </a:xfrm>
          <a:prstGeom prst="rect">
            <a:avLst/>
          </a:prstGeom>
        </p:spPr>
      </p:pic>
    </p:spTree>
    <p:extLst>
      <p:ext uri="{BB962C8B-B14F-4D97-AF65-F5344CB8AC3E}">
        <p14:creationId xmlns:p14="http://schemas.microsoft.com/office/powerpoint/2010/main" val="1631329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C32BD-0A03-AC83-1F28-8193FB983CC5}"/>
              </a:ext>
            </a:extLst>
          </p:cNvPr>
          <p:cNvSpPr>
            <a:spLocks noGrp="1"/>
          </p:cNvSpPr>
          <p:nvPr>
            <p:ph type="title"/>
          </p:nvPr>
        </p:nvSpPr>
        <p:spPr>
          <a:xfrm>
            <a:off x="1167582" y="313539"/>
            <a:ext cx="9601196" cy="1303867"/>
          </a:xfrm>
        </p:spPr>
        <p:txBody>
          <a:bodyPr/>
          <a:lstStyle/>
          <a:p>
            <a:r>
              <a:rPr lang="en-IN" dirty="0"/>
              <a:t>SIGN UP SERVICE</a:t>
            </a:r>
          </a:p>
        </p:txBody>
      </p:sp>
      <p:pic>
        <p:nvPicPr>
          <p:cNvPr id="5" name="Content Placeholder 4">
            <a:extLst>
              <a:ext uri="{FF2B5EF4-FFF2-40B4-BE49-F238E27FC236}">
                <a16:creationId xmlns:a16="http://schemas.microsoft.com/office/drawing/2014/main" id="{816F8DAE-F4B2-32C6-ECC1-43095BA94DB1}"/>
              </a:ext>
            </a:extLst>
          </p:cNvPr>
          <p:cNvPicPr>
            <a:picLocks noGrp="1" noChangeAspect="1"/>
          </p:cNvPicPr>
          <p:nvPr>
            <p:ph idx="1"/>
          </p:nvPr>
        </p:nvPicPr>
        <p:blipFill>
          <a:blip r:embed="rId2"/>
          <a:stretch>
            <a:fillRect/>
          </a:stretch>
        </p:blipFill>
        <p:spPr>
          <a:xfrm>
            <a:off x="1378990" y="1617406"/>
            <a:ext cx="8866224" cy="4691081"/>
          </a:xfrm>
          <a:prstGeom prst="rect">
            <a:avLst/>
          </a:prstGeom>
        </p:spPr>
      </p:pic>
    </p:spTree>
    <p:extLst>
      <p:ext uri="{BB962C8B-B14F-4D97-AF65-F5344CB8AC3E}">
        <p14:creationId xmlns:p14="http://schemas.microsoft.com/office/powerpoint/2010/main" val="3898273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AFB8F-7993-43CD-E3CD-7C68D6CB64C2}"/>
              </a:ext>
            </a:extLst>
          </p:cNvPr>
          <p:cNvSpPr>
            <a:spLocks noGrp="1"/>
          </p:cNvSpPr>
          <p:nvPr>
            <p:ph type="title"/>
          </p:nvPr>
        </p:nvSpPr>
        <p:spPr/>
        <p:txBody>
          <a:bodyPr/>
          <a:lstStyle/>
          <a:p>
            <a:r>
              <a:rPr lang="en-IN" dirty="0"/>
              <a:t>SIGN IN CONTROLLER</a:t>
            </a:r>
          </a:p>
        </p:txBody>
      </p:sp>
      <p:pic>
        <p:nvPicPr>
          <p:cNvPr id="5" name="Content Placeholder 4">
            <a:extLst>
              <a:ext uri="{FF2B5EF4-FFF2-40B4-BE49-F238E27FC236}">
                <a16:creationId xmlns:a16="http://schemas.microsoft.com/office/drawing/2014/main" id="{30D8F985-4A68-EABD-2F59-C5D004F51260}"/>
              </a:ext>
            </a:extLst>
          </p:cNvPr>
          <p:cNvPicPr>
            <a:picLocks noGrp="1" noChangeAspect="1"/>
          </p:cNvPicPr>
          <p:nvPr>
            <p:ph idx="1"/>
          </p:nvPr>
        </p:nvPicPr>
        <p:blipFill>
          <a:blip r:embed="rId2"/>
          <a:stretch>
            <a:fillRect/>
          </a:stretch>
        </p:blipFill>
        <p:spPr>
          <a:xfrm>
            <a:off x="2009004" y="2581628"/>
            <a:ext cx="8011716" cy="3042424"/>
          </a:xfrm>
          <a:prstGeom prst="rect">
            <a:avLst/>
          </a:prstGeom>
        </p:spPr>
      </p:pic>
    </p:spTree>
    <p:extLst>
      <p:ext uri="{BB962C8B-B14F-4D97-AF65-F5344CB8AC3E}">
        <p14:creationId xmlns:p14="http://schemas.microsoft.com/office/powerpoint/2010/main" val="195603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E890D-8164-8320-E8D4-F8FB758F5188}"/>
              </a:ext>
            </a:extLst>
          </p:cNvPr>
          <p:cNvSpPr>
            <a:spLocks noGrp="1"/>
          </p:cNvSpPr>
          <p:nvPr>
            <p:ph type="title"/>
          </p:nvPr>
        </p:nvSpPr>
        <p:spPr>
          <a:xfrm>
            <a:off x="1295402" y="589935"/>
            <a:ext cx="9601196" cy="1170040"/>
          </a:xfrm>
        </p:spPr>
        <p:txBody>
          <a:bodyPr/>
          <a:lstStyle/>
          <a:p>
            <a:r>
              <a:rPr lang="en-IN" dirty="0"/>
              <a:t>SIGN IN SERVICE</a:t>
            </a:r>
          </a:p>
        </p:txBody>
      </p:sp>
      <p:pic>
        <p:nvPicPr>
          <p:cNvPr id="5" name="Content Placeholder 4">
            <a:extLst>
              <a:ext uri="{FF2B5EF4-FFF2-40B4-BE49-F238E27FC236}">
                <a16:creationId xmlns:a16="http://schemas.microsoft.com/office/drawing/2014/main" id="{982991E0-7989-7360-AFAC-526034AD6832}"/>
              </a:ext>
            </a:extLst>
          </p:cNvPr>
          <p:cNvPicPr>
            <a:picLocks noGrp="1" noChangeAspect="1"/>
          </p:cNvPicPr>
          <p:nvPr>
            <p:ph idx="1"/>
          </p:nvPr>
        </p:nvPicPr>
        <p:blipFill>
          <a:blip r:embed="rId2"/>
          <a:stretch>
            <a:fillRect/>
          </a:stretch>
        </p:blipFill>
        <p:spPr>
          <a:xfrm>
            <a:off x="2536723" y="1877962"/>
            <a:ext cx="6389383" cy="4134464"/>
          </a:xfrm>
          <a:prstGeom prst="rect">
            <a:avLst/>
          </a:prstGeom>
        </p:spPr>
      </p:pic>
    </p:spTree>
    <p:extLst>
      <p:ext uri="{BB962C8B-B14F-4D97-AF65-F5344CB8AC3E}">
        <p14:creationId xmlns:p14="http://schemas.microsoft.com/office/powerpoint/2010/main" val="3011069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C37F8-8811-4589-A869-859B39207845}"/>
              </a:ext>
            </a:extLst>
          </p:cNvPr>
          <p:cNvSpPr>
            <a:spLocks noGrp="1"/>
          </p:cNvSpPr>
          <p:nvPr>
            <p:ph type="title"/>
          </p:nvPr>
        </p:nvSpPr>
        <p:spPr>
          <a:xfrm>
            <a:off x="1295402" y="982132"/>
            <a:ext cx="9601196" cy="1053145"/>
          </a:xfrm>
        </p:spPr>
        <p:txBody>
          <a:bodyPr/>
          <a:lstStyle/>
          <a:p>
            <a:r>
              <a:rPr lang="en-IN" dirty="0"/>
              <a:t>PURPOSE OF MODULE 2 </a:t>
            </a:r>
          </a:p>
        </p:txBody>
      </p:sp>
      <p:sp>
        <p:nvSpPr>
          <p:cNvPr id="3" name="Content Placeholder 2">
            <a:extLst>
              <a:ext uri="{FF2B5EF4-FFF2-40B4-BE49-F238E27FC236}">
                <a16:creationId xmlns:a16="http://schemas.microsoft.com/office/drawing/2014/main" id="{66A5EB35-0C0C-9146-405E-4CBA63272F7C}"/>
              </a:ext>
            </a:extLst>
          </p:cNvPr>
          <p:cNvSpPr>
            <a:spLocks noGrp="1"/>
          </p:cNvSpPr>
          <p:nvPr>
            <p:ph idx="1"/>
          </p:nvPr>
        </p:nvSpPr>
        <p:spPr>
          <a:xfrm>
            <a:off x="1295402" y="2369574"/>
            <a:ext cx="9601196" cy="4021393"/>
          </a:xfrm>
        </p:spPr>
        <p:txBody>
          <a:bodyPr>
            <a:normAutofit fontScale="92500" lnSpcReduction="10000"/>
          </a:bodyPr>
          <a:lstStyle/>
          <a:p>
            <a:pPr algn="just"/>
            <a:r>
              <a:rPr lang="en-US" dirty="0"/>
              <a:t>The primary purpose of Module 2 is to provide a </a:t>
            </a:r>
            <a:r>
              <a:rPr lang="en-US" b="1" dirty="0"/>
              <a:t>structured and automated way to manage inventory</a:t>
            </a:r>
            <a:r>
              <a:rPr lang="en-US" dirty="0"/>
              <a:t>. It allows users to add new products, update stock levels during stock-in and stock-out operations, and prevent duplicate product entries.</a:t>
            </a:r>
          </a:p>
          <a:p>
            <a:r>
              <a:rPr lang="en-US" dirty="0"/>
              <a:t>This module ensures that inventory data is always:</a:t>
            </a:r>
          </a:p>
          <a:p>
            <a:r>
              <a:rPr lang="en-US" dirty="0"/>
              <a:t>Accurate</a:t>
            </a:r>
          </a:p>
          <a:p>
            <a:r>
              <a:rPr lang="en-US" dirty="0"/>
              <a:t>Consistent</a:t>
            </a:r>
          </a:p>
          <a:p>
            <a:r>
              <a:rPr lang="en-US" dirty="0"/>
              <a:t>Updated in real time</a:t>
            </a:r>
          </a:p>
          <a:p>
            <a:r>
              <a:rPr lang="en-US" dirty="0"/>
              <a:t>By using Java and Spring Boot, the module enforces business rules at the service level and maintains clean separation between layers, which makes the system scalable and maintainable.</a:t>
            </a:r>
          </a:p>
          <a:p>
            <a:endParaRPr lang="en-IN" dirty="0"/>
          </a:p>
        </p:txBody>
      </p:sp>
    </p:spTree>
    <p:extLst>
      <p:ext uri="{BB962C8B-B14F-4D97-AF65-F5344CB8AC3E}">
        <p14:creationId xmlns:p14="http://schemas.microsoft.com/office/powerpoint/2010/main" val="1196389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FDBF4-124E-77F7-EB80-8C99AB1B8D57}"/>
              </a:ext>
            </a:extLst>
          </p:cNvPr>
          <p:cNvSpPr>
            <a:spLocks noGrp="1"/>
          </p:cNvSpPr>
          <p:nvPr>
            <p:ph type="title"/>
          </p:nvPr>
        </p:nvSpPr>
        <p:spPr/>
        <p:txBody>
          <a:bodyPr/>
          <a:lstStyle/>
          <a:p>
            <a:r>
              <a:rPr lang="en-IN" dirty="0"/>
              <a:t>PRODUCT CLASS </a:t>
            </a:r>
          </a:p>
        </p:txBody>
      </p:sp>
      <p:sp>
        <p:nvSpPr>
          <p:cNvPr id="3" name="Content Placeholder 2">
            <a:extLst>
              <a:ext uri="{FF2B5EF4-FFF2-40B4-BE49-F238E27FC236}">
                <a16:creationId xmlns:a16="http://schemas.microsoft.com/office/drawing/2014/main" id="{E8EEA184-3A47-CC13-7DA4-6A0CE0F037BD}"/>
              </a:ext>
            </a:extLst>
          </p:cNvPr>
          <p:cNvSpPr>
            <a:spLocks noGrp="1"/>
          </p:cNvSpPr>
          <p:nvPr>
            <p:ph idx="1"/>
          </p:nvPr>
        </p:nvSpPr>
        <p:spPr>
          <a:xfrm>
            <a:off x="1295401" y="2369574"/>
            <a:ext cx="9601196" cy="4031226"/>
          </a:xfrm>
        </p:spPr>
        <p:txBody>
          <a:bodyPr>
            <a:normAutofit fontScale="92500"/>
          </a:bodyPr>
          <a:lstStyle/>
          <a:p>
            <a:pPr algn="just"/>
            <a:r>
              <a:rPr lang="en-US" dirty="0"/>
              <a:t>The </a:t>
            </a:r>
            <a:r>
              <a:rPr lang="en-US" b="1" dirty="0"/>
              <a:t>Product class</a:t>
            </a:r>
            <a:r>
              <a:rPr lang="en-US" dirty="0"/>
              <a:t> represents a real-world product in the system and acts as an </a:t>
            </a:r>
            <a:r>
              <a:rPr lang="en-US" b="1" dirty="0"/>
              <a:t>entity</a:t>
            </a:r>
            <a:r>
              <a:rPr lang="en-US" dirty="0"/>
              <a:t> mapped to a database table. It contains all the necessary attributes required to manage inventory effectively.</a:t>
            </a:r>
          </a:p>
          <a:p>
            <a:pPr algn="just"/>
            <a:r>
              <a:rPr lang="en-US" dirty="0"/>
              <a:t>Key attributes include:</a:t>
            </a:r>
          </a:p>
          <a:p>
            <a:pPr algn="just"/>
            <a:r>
              <a:rPr lang="en-US" b="1" dirty="0"/>
              <a:t>SKU</a:t>
            </a:r>
            <a:r>
              <a:rPr lang="en-US" dirty="0"/>
              <a:t>, which uniquely identifies a product and prevents duplication</a:t>
            </a:r>
          </a:p>
          <a:p>
            <a:pPr algn="just"/>
            <a:r>
              <a:rPr lang="en-US" b="1" dirty="0"/>
              <a:t>Stock Quantity</a:t>
            </a:r>
            <a:r>
              <a:rPr lang="en-US" dirty="0"/>
              <a:t>, which tracks the available quantity of the product</a:t>
            </a:r>
          </a:p>
          <a:p>
            <a:pPr algn="just"/>
            <a:r>
              <a:rPr lang="en-US" b="1" dirty="0"/>
              <a:t>Min </a:t>
            </a:r>
            <a:r>
              <a:rPr lang="en-US" b="1" dirty="0" err="1"/>
              <a:t>StockLevel</a:t>
            </a:r>
            <a:r>
              <a:rPr lang="en-US" dirty="0"/>
              <a:t>, which is used to trigger low stock alerts</a:t>
            </a:r>
          </a:p>
          <a:p>
            <a:pPr algn="just"/>
            <a:r>
              <a:rPr lang="en-US" dirty="0"/>
              <a:t>By modeling the product as a Java entity, the system ensures seamless interaction with the database through JPA, enabling reliable data persistence and retrieval.</a:t>
            </a:r>
          </a:p>
          <a:p>
            <a:pPr algn="just"/>
            <a:endParaRPr lang="en-IN" dirty="0"/>
          </a:p>
        </p:txBody>
      </p:sp>
    </p:spTree>
    <p:extLst>
      <p:ext uri="{BB962C8B-B14F-4D97-AF65-F5344CB8AC3E}">
        <p14:creationId xmlns:p14="http://schemas.microsoft.com/office/powerpoint/2010/main" val="2226774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F80CC-0A57-D7F3-918F-D61D3B8A76E0}"/>
              </a:ext>
            </a:extLst>
          </p:cNvPr>
          <p:cNvSpPr>
            <a:spLocks noGrp="1"/>
          </p:cNvSpPr>
          <p:nvPr>
            <p:ph type="title"/>
          </p:nvPr>
        </p:nvSpPr>
        <p:spPr/>
        <p:txBody>
          <a:bodyPr/>
          <a:lstStyle/>
          <a:p>
            <a:r>
              <a:rPr lang="en-IN" dirty="0"/>
              <a:t>PRODUCT CLASS</a:t>
            </a:r>
          </a:p>
        </p:txBody>
      </p:sp>
      <p:pic>
        <p:nvPicPr>
          <p:cNvPr id="5" name="Content Placeholder 4">
            <a:extLst>
              <a:ext uri="{FF2B5EF4-FFF2-40B4-BE49-F238E27FC236}">
                <a16:creationId xmlns:a16="http://schemas.microsoft.com/office/drawing/2014/main" id="{6C05EB6D-1359-A4D0-2DF1-8BA44DD9B0B0}"/>
              </a:ext>
            </a:extLst>
          </p:cNvPr>
          <p:cNvPicPr>
            <a:picLocks noGrp="1" noChangeAspect="1"/>
          </p:cNvPicPr>
          <p:nvPr>
            <p:ph idx="1"/>
          </p:nvPr>
        </p:nvPicPr>
        <p:blipFill>
          <a:blip r:embed="rId2"/>
          <a:stretch>
            <a:fillRect/>
          </a:stretch>
        </p:blipFill>
        <p:spPr>
          <a:xfrm>
            <a:off x="2170473" y="2499000"/>
            <a:ext cx="2941251" cy="3675659"/>
          </a:xfrm>
          <a:prstGeom prst="rect">
            <a:avLst/>
          </a:prstGeom>
        </p:spPr>
      </p:pic>
      <p:sp>
        <p:nvSpPr>
          <p:cNvPr id="7" name="TextBox 6">
            <a:extLst>
              <a:ext uri="{FF2B5EF4-FFF2-40B4-BE49-F238E27FC236}">
                <a16:creationId xmlns:a16="http://schemas.microsoft.com/office/drawing/2014/main" id="{7A796BCA-5591-0325-7D4D-8A6C3A86DB68}"/>
              </a:ext>
            </a:extLst>
          </p:cNvPr>
          <p:cNvSpPr txBox="1"/>
          <p:nvPr/>
        </p:nvSpPr>
        <p:spPr>
          <a:xfrm>
            <a:off x="5447070" y="2692794"/>
            <a:ext cx="5250427" cy="254537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Aptos Display" panose="020B0004020202020204" pitchFamily="34" charset="0"/>
              </a:rPr>
              <a:t>This Product class represents a real product in inventory.</a:t>
            </a:r>
          </a:p>
          <a:p>
            <a:pPr marL="285750" indent="-285750">
              <a:lnSpc>
                <a:spcPct val="150000"/>
              </a:lnSpc>
              <a:buFont typeface="Arial" panose="020B0604020202020204" pitchFamily="34" charset="0"/>
              <a:buChar char="•"/>
            </a:pPr>
            <a:r>
              <a:rPr lang="en-US" dirty="0">
                <a:latin typeface="Aptos Display" panose="020B0004020202020204" pitchFamily="34" charset="0"/>
              </a:rPr>
              <a:t>Each product has a unique SKU, price details, and stock quantity. Stock Quantity changes during stock-in and stock-out operations, and min </a:t>
            </a:r>
            <a:r>
              <a:rPr lang="en-US" dirty="0" err="1">
                <a:latin typeface="Aptos Display" panose="020B0004020202020204" pitchFamily="34" charset="0"/>
              </a:rPr>
              <a:t>StockLevel</a:t>
            </a:r>
            <a:r>
              <a:rPr lang="en-US" dirty="0">
                <a:latin typeface="Aptos Display" panose="020B0004020202020204" pitchFamily="34" charset="0"/>
              </a:rPr>
              <a:t> is used for alerts.</a:t>
            </a:r>
            <a:endParaRPr lang="en-IN" dirty="0">
              <a:latin typeface="Aptos Display" panose="020B0004020202020204" pitchFamily="34" charset="0"/>
            </a:endParaRPr>
          </a:p>
        </p:txBody>
      </p:sp>
    </p:spTree>
    <p:extLst>
      <p:ext uri="{BB962C8B-B14F-4D97-AF65-F5344CB8AC3E}">
        <p14:creationId xmlns:p14="http://schemas.microsoft.com/office/powerpoint/2010/main" val="910468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ED67E-ED89-86E4-6668-C34B37BDC162}"/>
              </a:ext>
            </a:extLst>
          </p:cNvPr>
          <p:cNvSpPr>
            <a:spLocks noGrp="1"/>
          </p:cNvSpPr>
          <p:nvPr>
            <p:ph type="title"/>
          </p:nvPr>
        </p:nvSpPr>
        <p:spPr/>
        <p:txBody>
          <a:bodyPr/>
          <a:lstStyle/>
          <a:p>
            <a:r>
              <a:rPr lang="en-IN" dirty="0"/>
              <a:t>PRODUCT CONTROLLER</a:t>
            </a:r>
          </a:p>
        </p:txBody>
      </p:sp>
      <p:sp>
        <p:nvSpPr>
          <p:cNvPr id="3" name="Content Placeholder 2">
            <a:extLst>
              <a:ext uri="{FF2B5EF4-FFF2-40B4-BE49-F238E27FC236}">
                <a16:creationId xmlns:a16="http://schemas.microsoft.com/office/drawing/2014/main" id="{338158D1-3CD0-A6A2-D867-A7EEA4FAA71C}"/>
              </a:ext>
            </a:extLst>
          </p:cNvPr>
          <p:cNvSpPr>
            <a:spLocks noGrp="1"/>
          </p:cNvSpPr>
          <p:nvPr>
            <p:ph idx="1"/>
          </p:nvPr>
        </p:nvSpPr>
        <p:spPr>
          <a:xfrm>
            <a:off x="1295401" y="2418735"/>
            <a:ext cx="9601196" cy="4041059"/>
          </a:xfrm>
        </p:spPr>
        <p:txBody>
          <a:bodyPr>
            <a:normAutofit fontScale="85000" lnSpcReduction="20000"/>
          </a:bodyPr>
          <a:lstStyle/>
          <a:p>
            <a:pPr algn="just">
              <a:lnSpc>
                <a:spcPct val="120000"/>
              </a:lnSpc>
            </a:pPr>
            <a:r>
              <a:rPr lang="en-US" dirty="0"/>
              <a:t>The </a:t>
            </a:r>
            <a:r>
              <a:rPr lang="en-US" b="1" dirty="0"/>
              <a:t>Product Controller</a:t>
            </a:r>
            <a:r>
              <a:rPr lang="en-US" dirty="0"/>
              <a:t> acts as the entry point for all product-related operations coming from the user interface. It follows the Controller layer of the layered architecture and is responsible only for handling HTTP requests.</a:t>
            </a:r>
          </a:p>
          <a:p>
            <a:pPr algn="just">
              <a:lnSpc>
                <a:spcPct val="120000"/>
              </a:lnSpc>
            </a:pPr>
            <a:r>
              <a:rPr lang="en-US" dirty="0"/>
              <a:t>The controller exposes endpoints for:</a:t>
            </a:r>
          </a:p>
          <a:p>
            <a:pPr algn="just">
              <a:lnSpc>
                <a:spcPct val="120000"/>
              </a:lnSpc>
            </a:pPr>
            <a:r>
              <a:rPr lang="en-US" dirty="0"/>
              <a:t>Adding new products</a:t>
            </a:r>
          </a:p>
          <a:p>
            <a:pPr algn="just">
              <a:lnSpc>
                <a:spcPct val="120000"/>
              </a:lnSpc>
            </a:pPr>
            <a:r>
              <a:rPr lang="en-US" dirty="0"/>
              <a:t>Increasing stock quantity</a:t>
            </a:r>
          </a:p>
          <a:p>
            <a:pPr algn="just">
              <a:lnSpc>
                <a:spcPct val="120000"/>
              </a:lnSpc>
            </a:pPr>
            <a:r>
              <a:rPr lang="en-US" dirty="0"/>
              <a:t>Decreasing stock quantity</a:t>
            </a:r>
          </a:p>
          <a:p>
            <a:pPr algn="just">
              <a:lnSpc>
                <a:spcPct val="120000"/>
              </a:lnSpc>
            </a:pPr>
            <a:r>
              <a:rPr lang="en-US" dirty="0"/>
              <a:t>It does not contain any business logic or database operations. Instead, it forwards requests to the Product Service. This design improves code clarity, reduces complexity, and ensures proper separation of concerns.</a:t>
            </a:r>
          </a:p>
          <a:p>
            <a:pPr algn="just">
              <a:lnSpc>
                <a:spcPct val="120000"/>
              </a:lnSpc>
            </a:pPr>
            <a:endParaRPr lang="en-IN" dirty="0"/>
          </a:p>
        </p:txBody>
      </p:sp>
    </p:spTree>
    <p:extLst>
      <p:ext uri="{BB962C8B-B14F-4D97-AF65-F5344CB8AC3E}">
        <p14:creationId xmlns:p14="http://schemas.microsoft.com/office/powerpoint/2010/main" val="2605087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1DE39-8C18-62F5-5D07-01D4B8F1DA02}"/>
              </a:ext>
            </a:extLst>
          </p:cNvPr>
          <p:cNvSpPr>
            <a:spLocks noGrp="1"/>
          </p:cNvSpPr>
          <p:nvPr>
            <p:ph type="title"/>
          </p:nvPr>
        </p:nvSpPr>
        <p:spPr>
          <a:xfrm>
            <a:off x="1292352" y="726494"/>
            <a:ext cx="9601196" cy="718849"/>
          </a:xfrm>
        </p:spPr>
        <p:txBody>
          <a:bodyPr>
            <a:normAutofit fontScale="90000"/>
          </a:bodyPr>
          <a:lstStyle/>
          <a:p>
            <a:r>
              <a:rPr lang="en-IN" dirty="0"/>
              <a:t>PRODUCT CONTROLLER</a:t>
            </a:r>
          </a:p>
        </p:txBody>
      </p:sp>
      <p:pic>
        <p:nvPicPr>
          <p:cNvPr id="6" name="Content Placeholder 5">
            <a:extLst>
              <a:ext uri="{FF2B5EF4-FFF2-40B4-BE49-F238E27FC236}">
                <a16:creationId xmlns:a16="http://schemas.microsoft.com/office/drawing/2014/main" id="{39E9FCAF-1264-FF8A-A2FF-35D95F14B16F}"/>
              </a:ext>
            </a:extLst>
          </p:cNvPr>
          <p:cNvPicPr>
            <a:picLocks noGrp="1" noChangeAspect="1"/>
          </p:cNvPicPr>
          <p:nvPr>
            <p:ph sz="half" idx="1"/>
          </p:nvPr>
        </p:nvPicPr>
        <p:blipFill>
          <a:blip r:embed="rId2"/>
          <a:stretch>
            <a:fillRect/>
          </a:stretch>
        </p:blipFill>
        <p:spPr>
          <a:xfrm>
            <a:off x="1410339" y="1605116"/>
            <a:ext cx="4410358" cy="4265332"/>
          </a:xfrm>
          <a:prstGeom prst="rect">
            <a:avLst/>
          </a:prstGeom>
        </p:spPr>
      </p:pic>
      <p:sp>
        <p:nvSpPr>
          <p:cNvPr id="4" name="Content Placeholder 3">
            <a:extLst>
              <a:ext uri="{FF2B5EF4-FFF2-40B4-BE49-F238E27FC236}">
                <a16:creationId xmlns:a16="http://schemas.microsoft.com/office/drawing/2014/main" id="{DF9A9A0C-197B-862E-E68F-D28D60063B30}"/>
              </a:ext>
            </a:extLst>
          </p:cNvPr>
          <p:cNvSpPr>
            <a:spLocks noGrp="1"/>
          </p:cNvSpPr>
          <p:nvPr>
            <p:ph sz="half" idx="2"/>
          </p:nvPr>
        </p:nvSpPr>
        <p:spPr/>
        <p:txBody>
          <a:bodyPr/>
          <a:lstStyle/>
          <a:p>
            <a:r>
              <a:rPr lang="en-US" dirty="0"/>
              <a:t>The controller receives requests from the UI.</a:t>
            </a:r>
          </a:p>
          <a:p>
            <a:r>
              <a:rPr lang="en-US" dirty="0"/>
              <a:t>It does not contain business logic.</a:t>
            </a:r>
          </a:p>
          <a:p>
            <a:r>
              <a:rPr lang="en-US" dirty="0"/>
              <a:t>It simply forwards the request to the service layer.</a:t>
            </a:r>
            <a:endParaRPr lang="en-IN" dirty="0"/>
          </a:p>
        </p:txBody>
      </p:sp>
    </p:spTree>
    <p:extLst>
      <p:ext uri="{BB962C8B-B14F-4D97-AF65-F5344CB8AC3E}">
        <p14:creationId xmlns:p14="http://schemas.microsoft.com/office/powerpoint/2010/main" val="2306774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1DAFA-D6B2-1F7A-D8A1-4C3A41FAB37A}"/>
              </a:ext>
            </a:extLst>
          </p:cNvPr>
          <p:cNvSpPr>
            <a:spLocks noGrp="1"/>
          </p:cNvSpPr>
          <p:nvPr>
            <p:ph type="title"/>
          </p:nvPr>
        </p:nvSpPr>
        <p:spPr/>
        <p:txBody>
          <a:bodyPr/>
          <a:lstStyle/>
          <a:p>
            <a:r>
              <a:rPr lang="en-IN" dirty="0"/>
              <a:t>PRODUCT SERVICE </a:t>
            </a:r>
          </a:p>
        </p:txBody>
      </p:sp>
      <p:sp>
        <p:nvSpPr>
          <p:cNvPr id="3" name="Content Placeholder 2">
            <a:extLst>
              <a:ext uri="{FF2B5EF4-FFF2-40B4-BE49-F238E27FC236}">
                <a16:creationId xmlns:a16="http://schemas.microsoft.com/office/drawing/2014/main" id="{C61D9A95-057C-42FA-403B-1216A226A779}"/>
              </a:ext>
            </a:extLst>
          </p:cNvPr>
          <p:cNvSpPr>
            <a:spLocks noGrp="1"/>
          </p:cNvSpPr>
          <p:nvPr>
            <p:ph idx="1"/>
          </p:nvPr>
        </p:nvSpPr>
        <p:spPr>
          <a:xfrm>
            <a:off x="1295401" y="2399071"/>
            <a:ext cx="9601196" cy="3942735"/>
          </a:xfrm>
        </p:spPr>
        <p:txBody>
          <a:bodyPr>
            <a:normAutofit fontScale="92500"/>
          </a:bodyPr>
          <a:lstStyle/>
          <a:p>
            <a:pPr algn="just"/>
            <a:r>
              <a:rPr lang="en-US" dirty="0"/>
              <a:t>The </a:t>
            </a:r>
            <a:r>
              <a:rPr lang="en-US" b="1" dirty="0" err="1"/>
              <a:t>ProductService</a:t>
            </a:r>
            <a:r>
              <a:rPr lang="en-US" dirty="0"/>
              <a:t> is the most important component of Module 2 because it contains the </a:t>
            </a:r>
            <a:r>
              <a:rPr lang="en-US" b="1" dirty="0"/>
              <a:t>core business logic</a:t>
            </a:r>
            <a:r>
              <a:rPr lang="en-US" dirty="0"/>
              <a:t>. All validations and inventory rules are enforced here.</a:t>
            </a:r>
          </a:p>
          <a:p>
            <a:pPr algn="just"/>
            <a:r>
              <a:rPr lang="en-US" dirty="0"/>
              <a:t>For example:</a:t>
            </a:r>
          </a:p>
          <a:p>
            <a:pPr algn="just"/>
            <a:r>
              <a:rPr lang="en-US" dirty="0"/>
              <a:t>It checks whether a product SKU already exists</a:t>
            </a:r>
          </a:p>
          <a:p>
            <a:pPr algn="just"/>
            <a:r>
              <a:rPr lang="en-US" dirty="0"/>
              <a:t>It validates stock availability before reducing stock</a:t>
            </a:r>
          </a:p>
          <a:p>
            <a:pPr algn="just"/>
            <a:r>
              <a:rPr lang="en-US" dirty="0"/>
              <a:t>It ensures stock updates are performed safely using transactional methods</a:t>
            </a:r>
          </a:p>
          <a:p>
            <a:pPr algn="just"/>
            <a:r>
              <a:rPr lang="en-US" dirty="0"/>
              <a:t>This layer also integrates with other services such as </a:t>
            </a:r>
            <a:r>
              <a:rPr lang="en-US" b="1" dirty="0" err="1"/>
              <a:t>TransactionService</a:t>
            </a:r>
            <a:r>
              <a:rPr lang="en-US" dirty="0"/>
              <a:t> and </a:t>
            </a:r>
            <a:r>
              <a:rPr lang="en-US" b="1" dirty="0" err="1"/>
              <a:t>AlertService</a:t>
            </a:r>
            <a:r>
              <a:rPr lang="en-US" dirty="0"/>
              <a:t>, making it the central point of coordination for inventory operations.</a:t>
            </a:r>
          </a:p>
          <a:p>
            <a:pPr algn="just"/>
            <a:endParaRPr lang="en-IN" dirty="0"/>
          </a:p>
        </p:txBody>
      </p:sp>
    </p:spTree>
    <p:extLst>
      <p:ext uri="{BB962C8B-B14F-4D97-AF65-F5344CB8AC3E}">
        <p14:creationId xmlns:p14="http://schemas.microsoft.com/office/powerpoint/2010/main" val="35300535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D6983-67ED-E8CA-EDC3-A3330C0DB691}"/>
              </a:ext>
            </a:extLst>
          </p:cNvPr>
          <p:cNvSpPr>
            <a:spLocks noGrp="1"/>
          </p:cNvSpPr>
          <p:nvPr>
            <p:ph type="title"/>
          </p:nvPr>
        </p:nvSpPr>
        <p:spPr/>
        <p:txBody>
          <a:bodyPr/>
          <a:lstStyle/>
          <a:p>
            <a:r>
              <a:rPr lang="en-IN" dirty="0"/>
              <a:t>ADD PRODUCT OPERATION</a:t>
            </a:r>
          </a:p>
        </p:txBody>
      </p:sp>
      <p:sp>
        <p:nvSpPr>
          <p:cNvPr id="3" name="Content Placeholder 2">
            <a:extLst>
              <a:ext uri="{FF2B5EF4-FFF2-40B4-BE49-F238E27FC236}">
                <a16:creationId xmlns:a16="http://schemas.microsoft.com/office/drawing/2014/main" id="{3BA5A7B6-C1F5-AA23-16E1-A601FD5AA19E}"/>
              </a:ext>
            </a:extLst>
          </p:cNvPr>
          <p:cNvSpPr>
            <a:spLocks noGrp="1"/>
          </p:cNvSpPr>
          <p:nvPr>
            <p:ph idx="1"/>
          </p:nvPr>
        </p:nvSpPr>
        <p:spPr>
          <a:xfrm>
            <a:off x="1295401" y="2556932"/>
            <a:ext cx="9601196" cy="3706216"/>
          </a:xfrm>
        </p:spPr>
        <p:txBody>
          <a:bodyPr>
            <a:normAutofit fontScale="92500" lnSpcReduction="10000"/>
          </a:bodyPr>
          <a:lstStyle/>
          <a:p>
            <a:pPr>
              <a:lnSpc>
                <a:spcPct val="150000"/>
              </a:lnSpc>
            </a:pPr>
            <a:r>
              <a:rPr lang="en-US" dirty="0"/>
              <a:t>When a new product is added to the system, the </a:t>
            </a:r>
            <a:r>
              <a:rPr lang="en-US" dirty="0" err="1"/>
              <a:t>ProductService</a:t>
            </a:r>
            <a:r>
              <a:rPr lang="en-US" dirty="0"/>
              <a:t> first checks whether the SKU already exists in the database. This validation is essential to prevent duplicate products, which can lead to incorrect stock calculations and reporting issues.</a:t>
            </a:r>
          </a:p>
          <a:p>
            <a:pPr>
              <a:lnSpc>
                <a:spcPct val="150000"/>
              </a:lnSpc>
            </a:pPr>
            <a:r>
              <a:rPr lang="en-US" dirty="0"/>
              <a:t>If the SKU is unique, the product is saved successfully. If not, the operation is rejected. This approach enforces </a:t>
            </a:r>
            <a:r>
              <a:rPr lang="en-US" b="1" dirty="0"/>
              <a:t>data integrity at the database level</a:t>
            </a:r>
            <a:r>
              <a:rPr lang="en-US" dirty="0"/>
              <a:t> and ensures that the inventory remains clean and reliable.</a:t>
            </a:r>
          </a:p>
          <a:p>
            <a:pPr>
              <a:lnSpc>
                <a:spcPct val="150000"/>
              </a:lnSpc>
            </a:pPr>
            <a:endParaRPr lang="en-IN" dirty="0"/>
          </a:p>
        </p:txBody>
      </p:sp>
    </p:spTree>
    <p:extLst>
      <p:ext uri="{BB962C8B-B14F-4D97-AF65-F5344CB8AC3E}">
        <p14:creationId xmlns:p14="http://schemas.microsoft.com/office/powerpoint/2010/main" val="41533139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033AA-B0DC-BB17-1625-6F72FF5A3327}"/>
              </a:ext>
            </a:extLst>
          </p:cNvPr>
          <p:cNvSpPr>
            <a:spLocks noGrp="1"/>
          </p:cNvSpPr>
          <p:nvPr>
            <p:ph type="title"/>
          </p:nvPr>
        </p:nvSpPr>
        <p:spPr/>
        <p:txBody>
          <a:bodyPr/>
          <a:lstStyle/>
          <a:p>
            <a:r>
              <a:rPr lang="en-IN" dirty="0"/>
              <a:t>STOCK IN OPERATION </a:t>
            </a:r>
          </a:p>
        </p:txBody>
      </p:sp>
      <p:sp>
        <p:nvSpPr>
          <p:cNvPr id="3" name="Content Placeholder 2">
            <a:extLst>
              <a:ext uri="{FF2B5EF4-FFF2-40B4-BE49-F238E27FC236}">
                <a16:creationId xmlns:a16="http://schemas.microsoft.com/office/drawing/2014/main" id="{92D1342F-9BF4-1C62-101E-9783BDC50F03}"/>
              </a:ext>
            </a:extLst>
          </p:cNvPr>
          <p:cNvSpPr>
            <a:spLocks noGrp="1"/>
          </p:cNvSpPr>
          <p:nvPr>
            <p:ph idx="1"/>
          </p:nvPr>
        </p:nvSpPr>
        <p:spPr>
          <a:xfrm>
            <a:off x="1295401" y="2556931"/>
            <a:ext cx="9601196" cy="3873365"/>
          </a:xfrm>
        </p:spPr>
        <p:txBody>
          <a:bodyPr>
            <a:normAutofit fontScale="85000" lnSpcReduction="10000"/>
          </a:bodyPr>
          <a:lstStyle/>
          <a:p>
            <a:pPr>
              <a:lnSpc>
                <a:spcPct val="160000"/>
              </a:lnSpc>
            </a:pPr>
            <a:r>
              <a:rPr lang="en-US" dirty="0"/>
              <a:t>The </a:t>
            </a:r>
            <a:r>
              <a:rPr lang="en-US" b="1" dirty="0"/>
              <a:t>Stock In operation</a:t>
            </a:r>
            <a:r>
              <a:rPr lang="en-US" dirty="0"/>
              <a:t> is performed when new inventory arrives from suppliers. During this operation, the stock Quantity of the product is increased by the specified amount.</a:t>
            </a:r>
          </a:p>
          <a:p>
            <a:pPr>
              <a:lnSpc>
                <a:spcPct val="160000"/>
              </a:lnSpc>
            </a:pPr>
            <a:r>
              <a:rPr lang="en-US" dirty="0"/>
              <a:t>This operation is executed inside a </a:t>
            </a:r>
            <a:r>
              <a:rPr lang="en-US" b="1" dirty="0"/>
              <a:t>transactional context</a:t>
            </a:r>
            <a:r>
              <a:rPr lang="en-US" dirty="0"/>
              <a:t>, ensuring that the update is safely committed to the database. After updating the stock, the system logs the transaction for audit purposes and checks whether the stock level falls below the minimum threshold.</a:t>
            </a:r>
          </a:p>
          <a:p>
            <a:pPr>
              <a:lnSpc>
                <a:spcPct val="160000"/>
              </a:lnSpc>
            </a:pPr>
            <a:r>
              <a:rPr lang="en-US" dirty="0"/>
              <a:t>This ensures </a:t>
            </a:r>
            <a:r>
              <a:rPr lang="en-US" b="1" dirty="0"/>
              <a:t>traceability, accountability, and proactive inventory management</a:t>
            </a:r>
            <a:r>
              <a:rPr lang="en-US" dirty="0"/>
              <a:t>.</a:t>
            </a:r>
          </a:p>
          <a:p>
            <a:pPr marL="0" indent="0">
              <a:lnSpc>
                <a:spcPct val="160000"/>
              </a:lnSpc>
              <a:buNone/>
            </a:pPr>
            <a:endParaRPr lang="en-IN" dirty="0"/>
          </a:p>
        </p:txBody>
      </p:sp>
    </p:spTree>
    <p:extLst>
      <p:ext uri="{BB962C8B-B14F-4D97-AF65-F5344CB8AC3E}">
        <p14:creationId xmlns:p14="http://schemas.microsoft.com/office/powerpoint/2010/main" val="9717415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992C9-9929-DD8A-4245-08BD875FB66C}"/>
              </a:ext>
            </a:extLst>
          </p:cNvPr>
          <p:cNvSpPr>
            <a:spLocks noGrp="1"/>
          </p:cNvSpPr>
          <p:nvPr>
            <p:ph type="title"/>
          </p:nvPr>
        </p:nvSpPr>
        <p:spPr/>
        <p:txBody>
          <a:bodyPr/>
          <a:lstStyle/>
          <a:p>
            <a:r>
              <a:rPr lang="en-IN" dirty="0"/>
              <a:t>STOCK OUT OPERATION </a:t>
            </a:r>
          </a:p>
        </p:txBody>
      </p:sp>
      <p:sp>
        <p:nvSpPr>
          <p:cNvPr id="3" name="Content Placeholder 2">
            <a:extLst>
              <a:ext uri="{FF2B5EF4-FFF2-40B4-BE49-F238E27FC236}">
                <a16:creationId xmlns:a16="http://schemas.microsoft.com/office/drawing/2014/main" id="{A42AD079-1B41-0C6F-6DCD-C24B13E0077B}"/>
              </a:ext>
            </a:extLst>
          </p:cNvPr>
          <p:cNvSpPr>
            <a:spLocks noGrp="1"/>
          </p:cNvSpPr>
          <p:nvPr>
            <p:ph idx="1"/>
          </p:nvPr>
        </p:nvSpPr>
        <p:spPr>
          <a:xfrm>
            <a:off x="1295401" y="2556932"/>
            <a:ext cx="9601196" cy="3706216"/>
          </a:xfrm>
        </p:spPr>
        <p:txBody>
          <a:bodyPr>
            <a:normAutofit fontScale="85000" lnSpcReduction="10000"/>
          </a:bodyPr>
          <a:lstStyle/>
          <a:p>
            <a:pPr algn="just">
              <a:lnSpc>
                <a:spcPct val="160000"/>
              </a:lnSpc>
            </a:pPr>
            <a:r>
              <a:rPr lang="en-US" dirty="0"/>
              <a:t>The </a:t>
            </a:r>
            <a:r>
              <a:rPr lang="en-US" b="1" dirty="0"/>
              <a:t>Stock Out operation</a:t>
            </a:r>
            <a:r>
              <a:rPr lang="en-US" dirty="0"/>
              <a:t> is used when products are sold or consumed. Before reducing the stock, the system validates whether sufficient stock is available.</a:t>
            </a:r>
          </a:p>
          <a:p>
            <a:pPr algn="just">
              <a:lnSpc>
                <a:spcPct val="160000"/>
              </a:lnSpc>
            </a:pPr>
            <a:r>
              <a:rPr lang="en-US" dirty="0"/>
              <a:t>If the requested quantity exceeds the available stock, the operation is rejected to prevent negative stock values. If sufficient stock is available, the stock is reduced, the transaction is logged, and alerts are checked.</a:t>
            </a:r>
          </a:p>
          <a:p>
            <a:pPr algn="just">
              <a:lnSpc>
                <a:spcPct val="160000"/>
              </a:lnSpc>
            </a:pPr>
            <a:r>
              <a:rPr lang="en-US" dirty="0"/>
              <a:t>This mechanism ensures </a:t>
            </a:r>
            <a:r>
              <a:rPr lang="en-US" b="1" dirty="0"/>
              <a:t>business rule enforcement, data consistency, and system reliability</a:t>
            </a:r>
            <a:r>
              <a:rPr lang="en-US" dirty="0"/>
              <a:t>.</a:t>
            </a:r>
          </a:p>
          <a:p>
            <a:pPr algn="just">
              <a:lnSpc>
                <a:spcPct val="160000"/>
              </a:lnSpc>
            </a:pPr>
            <a:endParaRPr lang="en-IN" dirty="0"/>
          </a:p>
        </p:txBody>
      </p:sp>
    </p:spTree>
    <p:extLst>
      <p:ext uri="{BB962C8B-B14F-4D97-AF65-F5344CB8AC3E}">
        <p14:creationId xmlns:p14="http://schemas.microsoft.com/office/powerpoint/2010/main" val="36802310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493D-6D2F-BDBB-94F7-F4A4B5B9F762}"/>
              </a:ext>
            </a:extLst>
          </p:cNvPr>
          <p:cNvSpPr>
            <a:spLocks noGrp="1"/>
          </p:cNvSpPr>
          <p:nvPr>
            <p:ph type="title"/>
          </p:nvPr>
        </p:nvSpPr>
        <p:spPr/>
        <p:txBody>
          <a:bodyPr/>
          <a:lstStyle/>
          <a:p>
            <a:r>
              <a:rPr lang="en-IN" dirty="0"/>
              <a:t>PRODUCT REPOSITORY </a:t>
            </a:r>
          </a:p>
        </p:txBody>
      </p:sp>
      <p:sp>
        <p:nvSpPr>
          <p:cNvPr id="3" name="Content Placeholder 2">
            <a:extLst>
              <a:ext uri="{FF2B5EF4-FFF2-40B4-BE49-F238E27FC236}">
                <a16:creationId xmlns:a16="http://schemas.microsoft.com/office/drawing/2014/main" id="{5C2E72E2-FFCD-4044-D359-8F20818AFA35}"/>
              </a:ext>
            </a:extLst>
          </p:cNvPr>
          <p:cNvSpPr>
            <a:spLocks noGrp="1"/>
          </p:cNvSpPr>
          <p:nvPr>
            <p:ph idx="1"/>
          </p:nvPr>
        </p:nvSpPr>
        <p:spPr>
          <a:xfrm>
            <a:off x="1295401" y="2556932"/>
            <a:ext cx="9601196" cy="3686552"/>
          </a:xfrm>
        </p:spPr>
        <p:txBody>
          <a:bodyPr>
            <a:normAutofit fontScale="92500"/>
          </a:bodyPr>
          <a:lstStyle/>
          <a:p>
            <a:pPr>
              <a:lnSpc>
                <a:spcPct val="150000"/>
              </a:lnSpc>
            </a:pPr>
            <a:r>
              <a:rPr lang="en-US" dirty="0"/>
              <a:t>The </a:t>
            </a:r>
            <a:r>
              <a:rPr lang="en-US" b="1" dirty="0" err="1"/>
              <a:t>ProductRepository</a:t>
            </a:r>
            <a:r>
              <a:rPr lang="en-US" dirty="0"/>
              <a:t> is responsible for handling all database operations related to products. It uses Spring Data JPA to perform CRUD operations such as saving products, retrieving product details, and checking SKU uniqueness.</a:t>
            </a:r>
          </a:p>
          <a:p>
            <a:pPr>
              <a:lnSpc>
                <a:spcPct val="150000"/>
              </a:lnSpc>
            </a:pPr>
            <a:r>
              <a:rPr lang="en-US" dirty="0"/>
              <a:t>By isolating database logic in the repository layer, the system follows the </a:t>
            </a:r>
            <a:r>
              <a:rPr lang="en-US" b="1" dirty="0"/>
              <a:t>separation of concerns principle</a:t>
            </a:r>
            <a:r>
              <a:rPr lang="en-US" dirty="0"/>
              <a:t>, which improves maintainability and scalability. This abstraction also allows easy switching of databases without affecting business logic.</a:t>
            </a:r>
          </a:p>
          <a:p>
            <a:pPr>
              <a:lnSpc>
                <a:spcPct val="150000"/>
              </a:lnSpc>
            </a:pPr>
            <a:endParaRPr lang="en-IN" dirty="0"/>
          </a:p>
        </p:txBody>
      </p:sp>
    </p:spTree>
    <p:extLst>
      <p:ext uri="{BB962C8B-B14F-4D97-AF65-F5344CB8AC3E}">
        <p14:creationId xmlns:p14="http://schemas.microsoft.com/office/powerpoint/2010/main" val="38592202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D8611-61F2-A34C-DBDA-2BA6DB0E0EB8}"/>
              </a:ext>
            </a:extLst>
          </p:cNvPr>
          <p:cNvSpPr>
            <a:spLocks noGrp="1"/>
          </p:cNvSpPr>
          <p:nvPr>
            <p:ph type="title"/>
          </p:nvPr>
        </p:nvSpPr>
        <p:spPr>
          <a:xfrm>
            <a:off x="1295402" y="982132"/>
            <a:ext cx="9601196" cy="876165"/>
          </a:xfrm>
        </p:spPr>
        <p:txBody>
          <a:bodyPr/>
          <a:lstStyle/>
          <a:p>
            <a:r>
              <a:rPr lang="en-IN" dirty="0"/>
              <a:t>PRODUCT SERVICE</a:t>
            </a:r>
          </a:p>
        </p:txBody>
      </p:sp>
      <p:pic>
        <p:nvPicPr>
          <p:cNvPr id="5" name="Content Placeholder 4">
            <a:extLst>
              <a:ext uri="{FF2B5EF4-FFF2-40B4-BE49-F238E27FC236}">
                <a16:creationId xmlns:a16="http://schemas.microsoft.com/office/drawing/2014/main" id="{86D27C6F-3779-0980-F4ED-4D9B44F73011}"/>
              </a:ext>
            </a:extLst>
          </p:cNvPr>
          <p:cNvPicPr>
            <a:picLocks noGrp="1" noChangeAspect="1"/>
          </p:cNvPicPr>
          <p:nvPr>
            <p:ph idx="1"/>
          </p:nvPr>
        </p:nvPicPr>
        <p:blipFill>
          <a:blip r:embed="rId2"/>
          <a:stretch>
            <a:fillRect/>
          </a:stretch>
        </p:blipFill>
        <p:spPr>
          <a:xfrm>
            <a:off x="1295402" y="1907855"/>
            <a:ext cx="4678662" cy="4247536"/>
          </a:xfrm>
          <a:prstGeom prst="rect">
            <a:avLst/>
          </a:prstGeom>
        </p:spPr>
      </p:pic>
      <p:sp>
        <p:nvSpPr>
          <p:cNvPr id="7" name="TextBox 6">
            <a:extLst>
              <a:ext uri="{FF2B5EF4-FFF2-40B4-BE49-F238E27FC236}">
                <a16:creationId xmlns:a16="http://schemas.microsoft.com/office/drawing/2014/main" id="{180E9871-48CB-7A50-28E4-F1107C3F280A}"/>
              </a:ext>
            </a:extLst>
          </p:cNvPr>
          <p:cNvSpPr txBox="1"/>
          <p:nvPr/>
        </p:nvSpPr>
        <p:spPr>
          <a:xfrm>
            <a:off x="6980903" y="2998443"/>
            <a:ext cx="3323303" cy="2246769"/>
          </a:xfrm>
          <a:prstGeom prst="rect">
            <a:avLst/>
          </a:prstGeom>
          <a:noFill/>
        </p:spPr>
        <p:txBody>
          <a:bodyPr wrap="square">
            <a:spAutoFit/>
          </a:bodyPr>
          <a:lstStyle/>
          <a:p>
            <a:pPr marL="285750" indent="-285750">
              <a:buFont typeface="Arial" panose="020B0604020202020204" pitchFamily="34" charset="0"/>
              <a:buChar char="•"/>
            </a:pPr>
            <a:r>
              <a:rPr lang="en-US" sz="2000" dirty="0"/>
              <a:t>Before adding a product, we check whether the SKU already exists.</a:t>
            </a:r>
          </a:p>
          <a:p>
            <a:pPr marL="285750" indent="-285750">
              <a:buFont typeface="Arial" panose="020B0604020202020204" pitchFamily="34" charset="0"/>
              <a:buChar char="•"/>
            </a:pPr>
            <a:r>
              <a:rPr lang="en-US" sz="2000" dirty="0"/>
              <a:t>If it exists, we reject the request.</a:t>
            </a:r>
          </a:p>
          <a:p>
            <a:pPr marL="285750" indent="-285750">
              <a:buFont typeface="Arial" panose="020B0604020202020204" pitchFamily="34" charset="0"/>
              <a:buChar char="•"/>
            </a:pPr>
            <a:r>
              <a:rPr lang="en-US" sz="2000" dirty="0"/>
              <a:t>This prevents duplicate products in inventory</a:t>
            </a:r>
            <a:endParaRPr lang="en-IN" sz="2000" dirty="0"/>
          </a:p>
        </p:txBody>
      </p:sp>
    </p:spTree>
    <p:extLst>
      <p:ext uri="{BB962C8B-B14F-4D97-AF65-F5344CB8AC3E}">
        <p14:creationId xmlns:p14="http://schemas.microsoft.com/office/powerpoint/2010/main" val="32355240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8D720-82FF-2C7D-AD44-A6CC2D008044}"/>
              </a:ext>
            </a:extLst>
          </p:cNvPr>
          <p:cNvSpPr>
            <a:spLocks noGrp="1"/>
          </p:cNvSpPr>
          <p:nvPr>
            <p:ph type="title"/>
          </p:nvPr>
        </p:nvSpPr>
        <p:spPr/>
        <p:txBody>
          <a:bodyPr/>
          <a:lstStyle/>
          <a:p>
            <a:r>
              <a:rPr lang="en-IN" dirty="0"/>
              <a:t>STOCK IN OPERATION</a:t>
            </a:r>
          </a:p>
        </p:txBody>
      </p:sp>
      <p:pic>
        <p:nvPicPr>
          <p:cNvPr id="4" name="Picture 3">
            <a:extLst>
              <a:ext uri="{FF2B5EF4-FFF2-40B4-BE49-F238E27FC236}">
                <a16:creationId xmlns:a16="http://schemas.microsoft.com/office/drawing/2014/main" id="{A2B465AC-BDF0-E948-53CC-D9BC0C4D054E}"/>
              </a:ext>
            </a:extLst>
          </p:cNvPr>
          <p:cNvPicPr>
            <a:picLocks noChangeAspect="1"/>
          </p:cNvPicPr>
          <p:nvPr/>
        </p:nvPicPr>
        <p:blipFill>
          <a:blip r:embed="rId2"/>
          <a:stretch>
            <a:fillRect/>
          </a:stretch>
        </p:blipFill>
        <p:spPr>
          <a:xfrm>
            <a:off x="1295402" y="2181884"/>
            <a:ext cx="5830114" cy="3772426"/>
          </a:xfrm>
          <a:prstGeom prst="rect">
            <a:avLst/>
          </a:prstGeom>
        </p:spPr>
      </p:pic>
      <p:sp>
        <p:nvSpPr>
          <p:cNvPr id="6" name="TextBox 5">
            <a:extLst>
              <a:ext uri="{FF2B5EF4-FFF2-40B4-BE49-F238E27FC236}">
                <a16:creationId xmlns:a16="http://schemas.microsoft.com/office/drawing/2014/main" id="{CFBA9B83-1B8A-DB71-09C9-4FF910C0A1D9}"/>
              </a:ext>
            </a:extLst>
          </p:cNvPr>
          <p:cNvSpPr txBox="1"/>
          <p:nvPr/>
        </p:nvSpPr>
        <p:spPr>
          <a:xfrm>
            <a:off x="7521676" y="2969793"/>
            <a:ext cx="3303640" cy="1938992"/>
          </a:xfrm>
          <a:prstGeom prst="rect">
            <a:avLst/>
          </a:prstGeom>
          <a:noFill/>
        </p:spPr>
        <p:txBody>
          <a:bodyPr wrap="square">
            <a:spAutoFit/>
          </a:bodyPr>
          <a:lstStyle/>
          <a:p>
            <a:pPr marL="285750" indent="-285750">
              <a:buFont typeface="Arial" panose="020B0604020202020204" pitchFamily="34" charset="0"/>
              <a:buChar char="•"/>
            </a:pPr>
            <a:r>
              <a:rPr lang="en-US" sz="2000" dirty="0"/>
              <a:t>When new stock arrives, stock Quantity is increased.</a:t>
            </a:r>
            <a:br>
              <a:rPr lang="en-US" sz="2000" dirty="0"/>
            </a:br>
            <a:r>
              <a:rPr lang="en-US" sz="2000" dirty="0"/>
              <a:t>The updated product is saved.</a:t>
            </a:r>
          </a:p>
          <a:p>
            <a:pPr marL="285750" indent="-285750">
              <a:buFont typeface="Arial" panose="020B0604020202020204" pitchFamily="34" charset="0"/>
              <a:buChar char="•"/>
            </a:pPr>
            <a:r>
              <a:rPr lang="en-US" sz="2000" dirty="0"/>
              <a:t>We log the transaction and check if alerts are needed.</a:t>
            </a:r>
            <a:endParaRPr lang="en-IN" sz="2000" dirty="0"/>
          </a:p>
        </p:txBody>
      </p:sp>
    </p:spTree>
    <p:extLst>
      <p:ext uri="{BB962C8B-B14F-4D97-AF65-F5344CB8AC3E}">
        <p14:creationId xmlns:p14="http://schemas.microsoft.com/office/powerpoint/2010/main" val="16684919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E19B3B-3195-9893-2995-D648C4A1B3D7}"/>
              </a:ext>
            </a:extLst>
          </p:cNvPr>
          <p:cNvPicPr>
            <a:picLocks noChangeAspect="1"/>
          </p:cNvPicPr>
          <p:nvPr/>
        </p:nvPicPr>
        <p:blipFill>
          <a:blip r:embed="rId2"/>
          <a:stretch>
            <a:fillRect/>
          </a:stretch>
        </p:blipFill>
        <p:spPr>
          <a:xfrm>
            <a:off x="861448" y="1153562"/>
            <a:ext cx="5887272" cy="4944165"/>
          </a:xfrm>
          <a:prstGeom prst="rect">
            <a:avLst/>
          </a:prstGeom>
        </p:spPr>
      </p:pic>
      <p:sp>
        <p:nvSpPr>
          <p:cNvPr id="6" name="TextBox 5">
            <a:extLst>
              <a:ext uri="{FF2B5EF4-FFF2-40B4-BE49-F238E27FC236}">
                <a16:creationId xmlns:a16="http://schemas.microsoft.com/office/drawing/2014/main" id="{FFFF6761-9749-30AD-A0E1-0AF9EEF4509A}"/>
              </a:ext>
            </a:extLst>
          </p:cNvPr>
          <p:cNvSpPr txBox="1"/>
          <p:nvPr/>
        </p:nvSpPr>
        <p:spPr>
          <a:xfrm>
            <a:off x="7079225" y="2556387"/>
            <a:ext cx="3392129" cy="281891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t>Before reducing stock, we check availability.</a:t>
            </a:r>
          </a:p>
          <a:p>
            <a:pPr marL="285750" indent="-285750">
              <a:lnSpc>
                <a:spcPct val="150000"/>
              </a:lnSpc>
              <a:buFont typeface="Arial" panose="020B0604020202020204" pitchFamily="34" charset="0"/>
              <a:buChar char="•"/>
            </a:pPr>
            <a:r>
              <a:rPr lang="en-US" sz="2000" dirty="0"/>
              <a:t>If stock is insufficient, the operation fails.</a:t>
            </a:r>
          </a:p>
          <a:p>
            <a:pPr marL="285750" indent="-285750">
              <a:lnSpc>
                <a:spcPct val="150000"/>
              </a:lnSpc>
              <a:buFont typeface="Arial" panose="020B0604020202020204" pitchFamily="34" charset="0"/>
              <a:buChar char="•"/>
            </a:pPr>
            <a:r>
              <a:rPr lang="en-US" sz="2000" dirty="0"/>
              <a:t>This prevents negative stock values.</a:t>
            </a:r>
            <a:endParaRPr lang="en-IN" sz="2000" dirty="0"/>
          </a:p>
        </p:txBody>
      </p:sp>
      <p:sp>
        <p:nvSpPr>
          <p:cNvPr id="8" name="TextBox 7">
            <a:extLst>
              <a:ext uri="{FF2B5EF4-FFF2-40B4-BE49-F238E27FC236}">
                <a16:creationId xmlns:a16="http://schemas.microsoft.com/office/drawing/2014/main" id="{256AB786-3AEA-79AF-2AFF-1561DF53E605}"/>
              </a:ext>
            </a:extLst>
          </p:cNvPr>
          <p:cNvSpPr txBox="1"/>
          <p:nvPr/>
        </p:nvSpPr>
        <p:spPr>
          <a:xfrm>
            <a:off x="7325031" y="1376516"/>
            <a:ext cx="2566221" cy="954107"/>
          </a:xfrm>
          <a:prstGeom prst="rect">
            <a:avLst/>
          </a:prstGeom>
          <a:noFill/>
        </p:spPr>
        <p:txBody>
          <a:bodyPr wrap="square">
            <a:spAutoFit/>
          </a:bodyPr>
          <a:lstStyle/>
          <a:p>
            <a:r>
              <a:rPr lang="en-IN" sz="2800" dirty="0"/>
              <a:t>STOCK OUT OPERATION</a:t>
            </a:r>
          </a:p>
        </p:txBody>
      </p:sp>
    </p:spTree>
    <p:extLst>
      <p:ext uri="{BB962C8B-B14F-4D97-AF65-F5344CB8AC3E}">
        <p14:creationId xmlns:p14="http://schemas.microsoft.com/office/powerpoint/2010/main" val="41759729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A2B7B-5143-581F-EA76-63E5FC790CE4}"/>
              </a:ext>
            </a:extLst>
          </p:cNvPr>
          <p:cNvSpPr>
            <a:spLocks noGrp="1"/>
          </p:cNvSpPr>
          <p:nvPr>
            <p:ph type="title"/>
          </p:nvPr>
        </p:nvSpPr>
        <p:spPr/>
        <p:txBody>
          <a:bodyPr/>
          <a:lstStyle/>
          <a:p>
            <a:r>
              <a:rPr lang="en-IN" dirty="0"/>
              <a:t>PRODUCT REPOSITORY</a:t>
            </a:r>
          </a:p>
        </p:txBody>
      </p:sp>
      <p:pic>
        <p:nvPicPr>
          <p:cNvPr id="5" name="Content Placeholder 4">
            <a:extLst>
              <a:ext uri="{FF2B5EF4-FFF2-40B4-BE49-F238E27FC236}">
                <a16:creationId xmlns:a16="http://schemas.microsoft.com/office/drawing/2014/main" id="{F7097C89-C606-639C-D031-D571DD5512C1}"/>
              </a:ext>
            </a:extLst>
          </p:cNvPr>
          <p:cNvPicPr>
            <a:picLocks noGrp="1" noChangeAspect="1"/>
          </p:cNvPicPr>
          <p:nvPr>
            <p:ph idx="1"/>
          </p:nvPr>
        </p:nvPicPr>
        <p:blipFill>
          <a:blip r:embed="rId2"/>
          <a:stretch>
            <a:fillRect/>
          </a:stretch>
        </p:blipFill>
        <p:spPr>
          <a:xfrm>
            <a:off x="1295402" y="2174005"/>
            <a:ext cx="3688317" cy="3931827"/>
          </a:xfrm>
          <a:prstGeom prst="rect">
            <a:avLst/>
          </a:prstGeom>
        </p:spPr>
      </p:pic>
      <p:sp>
        <p:nvSpPr>
          <p:cNvPr id="7" name="TextBox 6">
            <a:extLst>
              <a:ext uri="{FF2B5EF4-FFF2-40B4-BE49-F238E27FC236}">
                <a16:creationId xmlns:a16="http://schemas.microsoft.com/office/drawing/2014/main" id="{B6BC6004-CCEB-4B73-3953-E9642BDEF269}"/>
              </a:ext>
            </a:extLst>
          </p:cNvPr>
          <p:cNvSpPr txBox="1"/>
          <p:nvPr/>
        </p:nvSpPr>
        <p:spPr>
          <a:xfrm>
            <a:off x="6292645" y="3429000"/>
            <a:ext cx="4345857" cy="129971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Repository handles database operations only.</a:t>
            </a:r>
          </a:p>
          <a:p>
            <a:pPr marL="285750" indent="-285750">
              <a:lnSpc>
                <a:spcPct val="150000"/>
              </a:lnSpc>
              <a:buFont typeface="Arial" panose="020B0604020202020204" pitchFamily="34" charset="0"/>
              <a:buChar char="•"/>
            </a:pPr>
            <a:r>
              <a:rPr lang="en-US" dirty="0"/>
              <a:t>Business logic is never written here.</a:t>
            </a:r>
            <a:endParaRPr lang="en-IN" dirty="0"/>
          </a:p>
        </p:txBody>
      </p:sp>
    </p:spTree>
    <p:extLst>
      <p:ext uri="{BB962C8B-B14F-4D97-AF65-F5344CB8AC3E}">
        <p14:creationId xmlns:p14="http://schemas.microsoft.com/office/powerpoint/2010/main" val="4055010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B0C18-1B75-EABE-2020-34B303C09DAB}"/>
              </a:ext>
            </a:extLst>
          </p:cNvPr>
          <p:cNvSpPr>
            <a:spLocks noGrp="1"/>
          </p:cNvSpPr>
          <p:nvPr>
            <p:ph type="title"/>
          </p:nvPr>
        </p:nvSpPr>
        <p:spPr/>
        <p:txBody>
          <a:bodyPr/>
          <a:lstStyle/>
          <a:p>
            <a:r>
              <a:rPr lang="en-IN" dirty="0"/>
              <a:t>MODULE 2 FLOW</a:t>
            </a:r>
          </a:p>
        </p:txBody>
      </p:sp>
      <p:sp>
        <p:nvSpPr>
          <p:cNvPr id="3" name="Content Placeholder 2">
            <a:extLst>
              <a:ext uri="{FF2B5EF4-FFF2-40B4-BE49-F238E27FC236}">
                <a16:creationId xmlns:a16="http://schemas.microsoft.com/office/drawing/2014/main" id="{87AC57BE-0DC7-4C17-35F2-AD757003B87F}"/>
              </a:ext>
            </a:extLst>
          </p:cNvPr>
          <p:cNvSpPr>
            <a:spLocks noGrp="1"/>
          </p:cNvSpPr>
          <p:nvPr>
            <p:ph idx="1"/>
          </p:nvPr>
        </p:nvSpPr>
        <p:spPr/>
        <p:txBody>
          <a:bodyPr>
            <a:normAutofit fontScale="70000" lnSpcReduction="20000"/>
          </a:bodyPr>
          <a:lstStyle/>
          <a:p>
            <a:pPr marL="0" indent="0" algn="ctr">
              <a:buNone/>
            </a:pPr>
            <a:r>
              <a:rPr lang="en-IN" dirty="0"/>
              <a:t>UI</a:t>
            </a:r>
          </a:p>
          <a:p>
            <a:pPr marL="0" indent="0" algn="ctr">
              <a:buNone/>
            </a:pPr>
            <a:r>
              <a:rPr lang="en-IN" dirty="0"/>
              <a:t> ↓</a:t>
            </a:r>
          </a:p>
          <a:p>
            <a:pPr marL="0" indent="0" algn="ctr">
              <a:buNone/>
            </a:pPr>
            <a:r>
              <a:rPr lang="en-IN" dirty="0"/>
              <a:t>Product Controller</a:t>
            </a:r>
          </a:p>
          <a:p>
            <a:pPr marL="0" indent="0" algn="ctr">
              <a:buNone/>
            </a:pPr>
            <a:r>
              <a:rPr lang="en-IN" dirty="0"/>
              <a:t> ↓</a:t>
            </a:r>
          </a:p>
          <a:p>
            <a:pPr marL="0" indent="0" algn="ctr">
              <a:buNone/>
            </a:pPr>
            <a:r>
              <a:rPr lang="en-IN" dirty="0"/>
              <a:t>Product Service</a:t>
            </a:r>
          </a:p>
          <a:p>
            <a:pPr marL="0" indent="0" algn="ctr">
              <a:buNone/>
            </a:pPr>
            <a:r>
              <a:rPr lang="en-IN" dirty="0"/>
              <a:t> ↓</a:t>
            </a:r>
          </a:p>
          <a:p>
            <a:pPr marL="0" indent="0" algn="ctr">
              <a:buNone/>
            </a:pPr>
            <a:r>
              <a:rPr lang="en-IN"/>
              <a:t>Product Repository</a:t>
            </a:r>
            <a:endParaRPr lang="en-IN" dirty="0"/>
          </a:p>
          <a:p>
            <a:pPr marL="0" indent="0" algn="ctr">
              <a:buNone/>
            </a:pPr>
            <a:r>
              <a:rPr lang="en-IN" dirty="0"/>
              <a:t> ↓</a:t>
            </a:r>
          </a:p>
          <a:p>
            <a:pPr marL="0" indent="0" algn="ctr">
              <a:buNone/>
            </a:pPr>
            <a:r>
              <a:rPr lang="en-IN" dirty="0"/>
              <a:t>Database</a:t>
            </a:r>
          </a:p>
          <a:p>
            <a:pPr marL="0" indent="0" algn="ctr">
              <a:buNone/>
            </a:pPr>
            <a:endParaRPr lang="en-IN" dirty="0"/>
          </a:p>
        </p:txBody>
      </p:sp>
    </p:spTree>
    <p:extLst>
      <p:ext uri="{BB962C8B-B14F-4D97-AF65-F5344CB8AC3E}">
        <p14:creationId xmlns:p14="http://schemas.microsoft.com/office/powerpoint/2010/main" val="32392407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9D4DF-E9EC-D55F-C3C8-699AAD435E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A6528-1B32-67B1-874B-86526E6F88BF}"/>
              </a:ext>
            </a:extLst>
          </p:cNvPr>
          <p:cNvSpPr>
            <a:spLocks noGrp="1"/>
          </p:cNvSpPr>
          <p:nvPr>
            <p:ph type="ctrTitle"/>
          </p:nvPr>
        </p:nvSpPr>
        <p:spPr>
          <a:xfrm>
            <a:off x="2692398" y="1871131"/>
            <a:ext cx="6815669" cy="2907346"/>
          </a:xfrm>
        </p:spPr>
        <p:txBody>
          <a:bodyPr/>
          <a:lstStyle/>
          <a:p>
            <a:r>
              <a:rPr lang="en-IN" sz="3600" b="1" dirty="0">
                <a:solidFill>
                  <a:srgbClr val="FF0000"/>
                </a:solidFill>
              </a:rPr>
              <a:t>Inventra – Intelligent Inventory Management System</a:t>
            </a:r>
            <a:br>
              <a:rPr lang="en-IN" sz="3600" b="1" dirty="0">
                <a:solidFill>
                  <a:srgbClr val="FF0000"/>
                </a:solidFill>
              </a:rPr>
            </a:br>
            <a:br>
              <a:rPr lang="en-IN" sz="3600" b="1" dirty="0">
                <a:solidFill>
                  <a:srgbClr val="FF0000"/>
                </a:solidFill>
              </a:rPr>
            </a:br>
            <a:br>
              <a:rPr lang="en-IN" sz="3600" b="1" dirty="0">
                <a:solidFill>
                  <a:srgbClr val="FF0000"/>
                </a:solidFill>
              </a:rPr>
            </a:br>
            <a:r>
              <a:rPr lang="en-IN" sz="3600" b="1" dirty="0">
                <a:solidFill>
                  <a:schemeClr val="tx1"/>
                </a:solidFill>
              </a:rPr>
              <a:t>Milestone 3</a:t>
            </a:r>
          </a:p>
        </p:txBody>
      </p:sp>
    </p:spTree>
    <p:extLst>
      <p:ext uri="{BB962C8B-B14F-4D97-AF65-F5344CB8AC3E}">
        <p14:creationId xmlns:p14="http://schemas.microsoft.com/office/powerpoint/2010/main" val="4947577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CFD03-1815-204C-0C68-F0B07BF1EF92}"/>
              </a:ext>
            </a:extLst>
          </p:cNvPr>
          <p:cNvSpPr>
            <a:spLocks noGrp="1"/>
          </p:cNvSpPr>
          <p:nvPr>
            <p:ph type="title"/>
          </p:nvPr>
        </p:nvSpPr>
        <p:spPr/>
        <p:txBody>
          <a:bodyPr>
            <a:normAutofit fontScale="90000"/>
          </a:bodyPr>
          <a:lstStyle/>
          <a:p>
            <a:r>
              <a:rPr lang="en-IN" dirty="0"/>
              <a:t>MODULE 3</a:t>
            </a:r>
            <a:br>
              <a:rPr lang="en-IN" dirty="0"/>
            </a:br>
            <a:r>
              <a:rPr lang="en-IN" u="sng" dirty="0">
                <a:solidFill>
                  <a:srgbClr val="FF0000"/>
                </a:solidFill>
              </a:rPr>
              <a:t>Introduction</a:t>
            </a:r>
          </a:p>
        </p:txBody>
      </p:sp>
      <p:sp>
        <p:nvSpPr>
          <p:cNvPr id="3" name="Content Placeholder 2">
            <a:extLst>
              <a:ext uri="{FF2B5EF4-FFF2-40B4-BE49-F238E27FC236}">
                <a16:creationId xmlns:a16="http://schemas.microsoft.com/office/drawing/2014/main" id="{B2B38ECB-73A7-ADEF-AED9-DD3A9BC08F7D}"/>
              </a:ext>
            </a:extLst>
          </p:cNvPr>
          <p:cNvSpPr>
            <a:spLocks noGrp="1"/>
          </p:cNvSpPr>
          <p:nvPr>
            <p:ph idx="1"/>
          </p:nvPr>
        </p:nvSpPr>
        <p:spPr/>
        <p:txBody>
          <a:bodyPr>
            <a:normAutofit/>
          </a:bodyPr>
          <a:lstStyle/>
          <a:p>
            <a:pPr marL="0" indent="0">
              <a:buNone/>
            </a:pPr>
            <a:r>
              <a:rPr lang="en-US" sz="2800" dirty="0"/>
              <a:t>The </a:t>
            </a:r>
            <a:r>
              <a:rPr lang="en-US" sz="2800" b="1" dirty="0"/>
              <a:t>Inventory Alert Module</a:t>
            </a:r>
            <a:r>
              <a:rPr lang="en-US" sz="2800" dirty="0"/>
              <a:t> is designed to automatically monitor stock levels and generate alerts when inventory falls below a predefined minimum level.</a:t>
            </a:r>
            <a:br>
              <a:rPr lang="en-US" sz="2800" dirty="0"/>
            </a:br>
            <a:r>
              <a:rPr lang="en-US" sz="2800" dirty="0"/>
              <a:t>This module helps organizations avoid </a:t>
            </a:r>
            <a:r>
              <a:rPr lang="en-US" sz="2800" b="1" dirty="0"/>
              <a:t>stock-out situations</a:t>
            </a:r>
            <a:r>
              <a:rPr lang="en-US" sz="2800" dirty="0"/>
              <a:t> and ensures timely restocking.</a:t>
            </a:r>
            <a:endParaRPr lang="en-IN" sz="2800" dirty="0"/>
          </a:p>
        </p:txBody>
      </p:sp>
    </p:spTree>
    <p:extLst>
      <p:ext uri="{BB962C8B-B14F-4D97-AF65-F5344CB8AC3E}">
        <p14:creationId xmlns:p14="http://schemas.microsoft.com/office/powerpoint/2010/main" val="12221270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EDBE-1214-4676-734D-C810770F2FDC}"/>
              </a:ext>
            </a:extLst>
          </p:cNvPr>
          <p:cNvSpPr>
            <a:spLocks noGrp="1"/>
          </p:cNvSpPr>
          <p:nvPr>
            <p:ph type="title"/>
          </p:nvPr>
        </p:nvSpPr>
        <p:spPr/>
        <p:txBody>
          <a:bodyPr/>
          <a:lstStyle/>
          <a:p>
            <a:r>
              <a:rPr lang="en-IN" dirty="0"/>
              <a:t>Problem Addressed</a:t>
            </a:r>
          </a:p>
        </p:txBody>
      </p:sp>
      <p:sp>
        <p:nvSpPr>
          <p:cNvPr id="3" name="Content Placeholder 2">
            <a:extLst>
              <a:ext uri="{FF2B5EF4-FFF2-40B4-BE49-F238E27FC236}">
                <a16:creationId xmlns:a16="http://schemas.microsoft.com/office/drawing/2014/main" id="{9C52D1A4-9D94-80C3-250A-8E9CA136B23F}"/>
              </a:ext>
            </a:extLst>
          </p:cNvPr>
          <p:cNvSpPr>
            <a:spLocks noGrp="1"/>
          </p:cNvSpPr>
          <p:nvPr>
            <p:ph idx="1"/>
          </p:nvPr>
        </p:nvSpPr>
        <p:spPr/>
        <p:txBody>
          <a:bodyPr/>
          <a:lstStyle/>
          <a:p>
            <a:r>
              <a:rPr lang="en-US" dirty="0"/>
              <a:t>Stock shortages are detected too late</a:t>
            </a:r>
          </a:p>
          <a:p>
            <a:r>
              <a:rPr lang="en-US" dirty="0"/>
              <a:t>Manual monitoring is error-prone</a:t>
            </a:r>
          </a:p>
          <a:p>
            <a:r>
              <a:rPr lang="en-US" dirty="0"/>
              <a:t>No automatic alert mechanism</a:t>
            </a:r>
          </a:p>
          <a:p>
            <a:r>
              <a:rPr lang="en-US" dirty="0"/>
              <a:t>Business operations get affected</a:t>
            </a:r>
          </a:p>
          <a:p>
            <a:pPr marL="0" indent="0">
              <a:buNone/>
            </a:pPr>
            <a:endParaRPr lang="en-IN" dirty="0"/>
          </a:p>
        </p:txBody>
      </p:sp>
    </p:spTree>
    <p:extLst>
      <p:ext uri="{BB962C8B-B14F-4D97-AF65-F5344CB8AC3E}">
        <p14:creationId xmlns:p14="http://schemas.microsoft.com/office/powerpoint/2010/main" val="13694494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3E507-CDF6-97DE-371E-21248C90CA09}"/>
              </a:ext>
            </a:extLst>
          </p:cNvPr>
          <p:cNvSpPr>
            <a:spLocks noGrp="1"/>
          </p:cNvSpPr>
          <p:nvPr>
            <p:ph type="title"/>
          </p:nvPr>
        </p:nvSpPr>
        <p:spPr/>
        <p:txBody>
          <a:bodyPr/>
          <a:lstStyle/>
          <a:p>
            <a:r>
              <a:rPr lang="en-IN" dirty="0"/>
              <a:t>Objectives of Alert Module</a:t>
            </a:r>
          </a:p>
        </p:txBody>
      </p:sp>
      <p:sp>
        <p:nvSpPr>
          <p:cNvPr id="4" name="Rectangle 1">
            <a:extLst>
              <a:ext uri="{FF2B5EF4-FFF2-40B4-BE49-F238E27FC236}">
                <a16:creationId xmlns:a16="http://schemas.microsoft.com/office/drawing/2014/main" id="{C4436EA2-50FC-A234-6800-86E0FA606841}"/>
              </a:ext>
            </a:extLst>
          </p:cNvPr>
          <p:cNvSpPr>
            <a:spLocks noGrp="1" noChangeArrowheads="1"/>
          </p:cNvSpPr>
          <p:nvPr>
            <p:ph idx="1"/>
          </p:nvPr>
        </p:nvSpPr>
        <p:spPr bwMode="auto">
          <a:xfrm>
            <a:off x="1423738" y="2535004"/>
            <a:ext cx="7079182" cy="2239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ClrTx/>
              <a:buSzTx/>
            </a:pPr>
            <a:r>
              <a:rPr kumimoji="0" lang="en-US" altLang="en-US" b="0" i="0" u="none" strike="noStrike" cap="none" normalizeH="0" baseline="0" dirty="0">
                <a:ln>
                  <a:noFill/>
                </a:ln>
                <a:solidFill>
                  <a:schemeClr val="tx1"/>
                </a:solidFill>
                <a:effectLst/>
                <a:latin typeface="Arial" panose="020B0604020202020204" pitchFamily="34" charset="0"/>
              </a:rPr>
              <a:t>Continuously monitor stock levels</a:t>
            </a:r>
          </a:p>
          <a:p>
            <a:pPr defTabSz="914400" eaLnBrk="0" fontAlgn="base" hangingPunct="0">
              <a:lnSpc>
                <a:spcPct val="150000"/>
              </a:lnSpc>
              <a:spcBef>
                <a:spcPct val="0"/>
              </a:spcBef>
              <a:spcAft>
                <a:spcPct val="0"/>
              </a:spcAft>
              <a:buClrTx/>
              <a:buSzTx/>
            </a:pPr>
            <a:r>
              <a:rPr kumimoji="0" lang="en-US" altLang="en-US" b="0" i="0" u="none" strike="noStrike" cap="none" normalizeH="0" baseline="0" dirty="0">
                <a:ln>
                  <a:noFill/>
                </a:ln>
                <a:solidFill>
                  <a:schemeClr val="tx1"/>
                </a:solidFill>
                <a:effectLst/>
                <a:latin typeface="Arial" panose="020B0604020202020204" pitchFamily="34" charset="0"/>
              </a:rPr>
              <a:t>Compare current stock with minimum stock level</a:t>
            </a:r>
          </a:p>
          <a:p>
            <a:pPr defTabSz="914400" eaLnBrk="0" fontAlgn="base" hangingPunct="0">
              <a:lnSpc>
                <a:spcPct val="150000"/>
              </a:lnSpc>
              <a:spcBef>
                <a:spcPct val="0"/>
              </a:spcBef>
              <a:spcAft>
                <a:spcPct val="0"/>
              </a:spcAft>
              <a:buClrTx/>
              <a:buSzTx/>
            </a:pPr>
            <a:r>
              <a:rPr kumimoji="0" lang="en-US" altLang="en-US" b="0" i="0" u="none" strike="noStrike" cap="none" normalizeH="0" baseline="0" dirty="0">
                <a:ln>
                  <a:noFill/>
                </a:ln>
                <a:solidFill>
                  <a:schemeClr val="tx1"/>
                </a:solidFill>
                <a:effectLst/>
                <a:latin typeface="Arial" panose="020B0604020202020204" pitchFamily="34" charset="0"/>
              </a:rPr>
              <a:t>Trigger alerts automatically</a:t>
            </a:r>
          </a:p>
          <a:p>
            <a:pPr defTabSz="914400" eaLnBrk="0" fontAlgn="base" hangingPunct="0">
              <a:lnSpc>
                <a:spcPct val="150000"/>
              </a:lnSpc>
              <a:spcBef>
                <a:spcPct val="0"/>
              </a:spcBef>
              <a:spcAft>
                <a:spcPct val="0"/>
              </a:spcAft>
              <a:buClrTx/>
              <a:buSzTx/>
            </a:pPr>
            <a:r>
              <a:rPr kumimoji="0" lang="en-US" altLang="en-US" b="0" i="0" u="none" strike="noStrike" cap="none" normalizeH="0" baseline="0" dirty="0">
                <a:ln>
                  <a:noFill/>
                </a:ln>
                <a:solidFill>
                  <a:schemeClr val="tx1"/>
                </a:solidFill>
                <a:effectLst/>
                <a:latin typeface="Arial" panose="020B0604020202020204" pitchFamily="34" charset="0"/>
              </a:rPr>
              <a:t>Improve inventory reliability</a:t>
            </a:r>
          </a:p>
        </p:txBody>
      </p:sp>
    </p:spTree>
    <p:extLst>
      <p:ext uri="{BB962C8B-B14F-4D97-AF65-F5344CB8AC3E}">
        <p14:creationId xmlns:p14="http://schemas.microsoft.com/office/powerpoint/2010/main" val="5945701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458F4-88BA-7F29-57F8-F531D6284ABD}"/>
              </a:ext>
            </a:extLst>
          </p:cNvPr>
          <p:cNvSpPr>
            <a:spLocks noGrp="1"/>
          </p:cNvSpPr>
          <p:nvPr>
            <p:ph type="title"/>
          </p:nvPr>
        </p:nvSpPr>
        <p:spPr/>
        <p:txBody>
          <a:bodyPr/>
          <a:lstStyle/>
          <a:p>
            <a:r>
              <a:rPr lang="en-IN" dirty="0"/>
              <a:t>When Alert Is Triggered</a:t>
            </a:r>
          </a:p>
        </p:txBody>
      </p:sp>
      <p:sp>
        <p:nvSpPr>
          <p:cNvPr id="3" name="Content Placeholder 2">
            <a:extLst>
              <a:ext uri="{FF2B5EF4-FFF2-40B4-BE49-F238E27FC236}">
                <a16:creationId xmlns:a16="http://schemas.microsoft.com/office/drawing/2014/main" id="{BC66CC27-0058-F53C-9E73-CF8F68DCB7E6}"/>
              </a:ext>
            </a:extLst>
          </p:cNvPr>
          <p:cNvSpPr>
            <a:spLocks noGrp="1"/>
          </p:cNvSpPr>
          <p:nvPr>
            <p:ph idx="1"/>
          </p:nvPr>
        </p:nvSpPr>
        <p:spPr/>
        <p:txBody>
          <a:bodyPr/>
          <a:lstStyle/>
          <a:p>
            <a:r>
              <a:rPr lang="en-US" dirty="0"/>
              <a:t>Alert is generated when:</a:t>
            </a:r>
          </a:p>
          <a:p>
            <a:r>
              <a:rPr lang="en-US" u="sng" dirty="0">
                <a:solidFill>
                  <a:srgbClr val="FF0000"/>
                </a:solidFill>
              </a:rPr>
              <a:t>Current Stock &lt; Minimum Stock Level</a:t>
            </a:r>
          </a:p>
          <a:p>
            <a:pPr marL="0" indent="0">
              <a:buNone/>
            </a:pPr>
            <a:r>
              <a:rPr lang="en-US" dirty="0"/>
              <a:t>Alert check occurs:</a:t>
            </a:r>
          </a:p>
          <a:p>
            <a:r>
              <a:rPr lang="en-US" dirty="0"/>
              <a:t>After stock-in operation</a:t>
            </a:r>
          </a:p>
          <a:p>
            <a:r>
              <a:rPr lang="en-US" dirty="0"/>
              <a:t>After stock-out operation</a:t>
            </a:r>
          </a:p>
          <a:p>
            <a:endParaRPr lang="en-IN" dirty="0"/>
          </a:p>
        </p:txBody>
      </p:sp>
    </p:spTree>
    <p:extLst>
      <p:ext uri="{BB962C8B-B14F-4D97-AF65-F5344CB8AC3E}">
        <p14:creationId xmlns:p14="http://schemas.microsoft.com/office/powerpoint/2010/main" val="30824838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A30FF-8169-65D8-3294-EAA4D6DD6C79}"/>
              </a:ext>
            </a:extLst>
          </p:cNvPr>
          <p:cNvSpPr>
            <a:spLocks noGrp="1"/>
          </p:cNvSpPr>
          <p:nvPr>
            <p:ph type="title"/>
          </p:nvPr>
        </p:nvSpPr>
        <p:spPr>
          <a:xfrm>
            <a:off x="1295400" y="581080"/>
            <a:ext cx="9601196" cy="1303867"/>
          </a:xfrm>
        </p:spPr>
        <p:txBody>
          <a:bodyPr>
            <a:normAutofit fontScale="90000"/>
          </a:bodyPr>
          <a:lstStyle/>
          <a:p>
            <a:r>
              <a:rPr lang="en-IN" b="1" dirty="0">
                <a:solidFill>
                  <a:srgbClr val="0D0D0D"/>
                </a:solidFill>
                <a:latin typeface="ui-sans-serif"/>
              </a:rPr>
              <a:t>Flow Diagram </a:t>
            </a:r>
            <a:br>
              <a:rPr lang="en-IN" b="1" dirty="0">
                <a:solidFill>
                  <a:srgbClr val="0D0D0D"/>
                </a:solidFill>
                <a:latin typeface="ui-sans-serif"/>
              </a:rPr>
            </a:br>
            <a:endParaRPr lang="en-IN" dirty="0"/>
          </a:p>
        </p:txBody>
      </p:sp>
      <p:pic>
        <p:nvPicPr>
          <p:cNvPr id="2050" name="Picture 2" descr="Inventory management flowchart | Flowchart Template">
            <a:extLst>
              <a:ext uri="{FF2B5EF4-FFF2-40B4-BE49-F238E27FC236}">
                <a16:creationId xmlns:a16="http://schemas.microsoft.com/office/drawing/2014/main" id="{DEA2337F-DABD-E816-15A8-63F30300B3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4884" y="1219200"/>
            <a:ext cx="4876800" cy="4884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88963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98DEC-02AA-A8DB-AE98-691CA63B660B}"/>
              </a:ext>
            </a:extLst>
          </p:cNvPr>
          <p:cNvSpPr>
            <a:spLocks noGrp="1"/>
          </p:cNvSpPr>
          <p:nvPr>
            <p:ph type="title"/>
          </p:nvPr>
        </p:nvSpPr>
        <p:spPr/>
        <p:txBody>
          <a:bodyPr/>
          <a:lstStyle/>
          <a:p>
            <a:r>
              <a:rPr lang="en-IN" dirty="0"/>
              <a:t>Java Code – Product Class</a:t>
            </a:r>
          </a:p>
        </p:txBody>
      </p:sp>
      <p:sp>
        <p:nvSpPr>
          <p:cNvPr id="7" name="Content Placeholder 6">
            <a:extLst>
              <a:ext uri="{FF2B5EF4-FFF2-40B4-BE49-F238E27FC236}">
                <a16:creationId xmlns:a16="http://schemas.microsoft.com/office/drawing/2014/main" id="{11E94EDE-DE86-B978-7D75-0A6A51963A10}"/>
              </a:ext>
            </a:extLst>
          </p:cNvPr>
          <p:cNvSpPr>
            <a:spLocks noGrp="1"/>
          </p:cNvSpPr>
          <p:nvPr>
            <p:ph idx="1"/>
          </p:nvPr>
        </p:nvSpPr>
        <p:spPr>
          <a:xfrm>
            <a:off x="1295401" y="2422358"/>
            <a:ext cx="9601196" cy="3453510"/>
          </a:xfrm>
        </p:spPr>
        <p:txBody>
          <a:bodyPr>
            <a:noAutofit/>
          </a:bodyPr>
          <a:lstStyle/>
          <a:p>
            <a:pPr marL="0" indent="0">
              <a:buNone/>
            </a:pPr>
            <a:r>
              <a:rPr lang="en-IN" sz="1800" dirty="0"/>
              <a:t>public class Product {</a:t>
            </a:r>
          </a:p>
          <a:p>
            <a:pPr marL="0" indent="0">
              <a:buNone/>
            </a:pPr>
            <a:r>
              <a:rPr lang="en-IN" sz="1800" dirty="0"/>
              <a:t>    String </a:t>
            </a:r>
            <a:r>
              <a:rPr lang="en-IN" sz="1800" dirty="0" err="1"/>
              <a:t>productCode</a:t>
            </a:r>
            <a:r>
              <a:rPr lang="en-IN" sz="1800" dirty="0"/>
              <a:t>;</a:t>
            </a:r>
          </a:p>
          <a:p>
            <a:pPr marL="0" indent="0">
              <a:buNone/>
            </a:pPr>
            <a:r>
              <a:rPr lang="en-IN" sz="1800" dirty="0"/>
              <a:t>    String </a:t>
            </a:r>
            <a:r>
              <a:rPr lang="en-IN" sz="1800" dirty="0" err="1"/>
              <a:t>productName</a:t>
            </a:r>
            <a:r>
              <a:rPr lang="en-IN" sz="1800" dirty="0"/>
              <a:t>;</a:t>
            </a:r>
          </a:p>
          <a:p>
            <a:pPr marL="0" indent="0">
              <a:buNone/>
            </a:pPr>
            <a:r>
              <a:rPr lang="en-IN" sz="1800" dirty="0"/>
              <a:t>    int </a:t>
            </a:r>
            <a:r>
              <a:rPr lang="en-IN" sz="1800" dirty="0" err="1"/>
              <a:t>stockQuantity</a:t>
            </a:r>
            <a:r>
              <a:rPr lang="en-IN" sz="1800" dirty="0"/>
              <a:t>;</a:t>
            </a:r>
          </a:p>
          <a:p>
            <a:pPr marL="0" indent="0">
              <a:buNone/>
            </a:pPr>
            <a:r>
              <a:rPr lang="en-IN" sz="1800" dirty="0"/>
              <a:t>    int </a:t>
            </a:r>
            <a:r>
              <a:rPr lang="en-IN" sz="1800" dirty="0" err="1"/>
              <a:t>minStockLevel</a:t>
            </a:r>
            <a:r>
              <a:rPr lang="en-IN" sz="1800" dirty="0"/>
              <a:t>;</a:t>
            </a:r>
          </a:p>
          <a:p>
            <a:pPr marL="0" indent="0">
              <a:buNone/>
            </a:pPr>
            <a:r>
              <a:rPr lang="en-IN" sz="1800" dirty="0"/>
              <a:t>    public Product(String </a:t>
            </a:r>
            <a:r>
              <a:rPr lang="en-IN" sz="1800" dirty="0" err="1"/>
              <a:t>productCode</a:t>
            </a:r>
            <a:r>
              <a:rPr lang="en-IN" sz="1800" dirty="0"/>
              <a:t>, String </a:t>
            </a:r>
            <a:r>
              <a:rPr lang="en-IN" sz="1800" dirty="0" err="1"/>
              <a:t>productName</a:t>
            </a:r>
            <a:r>
              <a:rPr lang="en-IN" sz="1800" dirty="0"/>
              <a:t>,  int </a:t>
            </a:r>
            <a:r>
              <a:rPr lang="en-IN" sz="1800" dirty="0" err="1"/>
              <a:t>stockQuantity</a:t>
            </a:r>
            <a:r>
              <a:rPr lang="en-IN" sz="1800" dirty="0"/>
              <a:t>, int </a:t>
            </a:r>
            <a:r>
              <a:rPr lang="en-IN" sz="1800" dirty="0" err="1"/>
              <a:t>minStockLevel</a:t>
            </a:r>
            <a:r>
              <a:rPr lang="en-IN" sz="1800" dirty="0"/>
              <a:t>) {</a:t>
            </a:r>
          </a:p>
          <a:p>
            <a:pPr marL="0" indent="0">
              <a:buNone/>
            </a:pPr>
            <a:r>
              <a:rPr lang="en-IN" sz="1800" dirty="0"/>
              <a:t>    </a:t>
            </a:r>
            <a:r>
              <a:rPr lang="en-IN" sz="1800" dirty="0" err="1"/>
              <a:t>this.productCode</a:t>
            </a:r>
            <a:r>
              <a:rPr lang="en-IN" sz="1800" dirty="0"/>
              <a:t> = </a:t>
            </a:r>
            <a:r>
              <a:rPr lang="en-IN" sz="1800" dirty="0" err="1"/>
              <a:t>productCode</a:t>
            </a:r>
            <a:r>
              <a:rPr lang="en-IN" sz="1800" dirty="0"/>
              <a:t>;   </a:t>
            </a:r>
            <a:r>
              <a:rPr lang="en-IN" sz="1800" dirty="0" err="1"/>
              <a:t>this.productName</a:t>
            </a:r>
            <a:r>
              <a:rPr lang="en-IN" sz="1800" dirty="0"/>
              <a:t> = </a:t>
            </a:r>
            <a:r>
              <a:rPr lang="en-IN" sz="1800" dirty="0" err="1"/>
              <a:t>productName</a:t>
            </a:r>
            <a:r>
              <a:rPr lang="en-IN" sz="1800" dirty="0"/>
              <a:t>;  </a:t>
            </a:r>
            <a:r>
              <a:rPr lang="en-IN" sz="1800" dirty="0" err="1"/>
              <a:t>this.stockQuantity</a:t>
            </a:r>
            <a:r>
              <a:rPr lang="en-IN" sz="1800" dirty="0"/>
              <a:t> = </a:t>
            </a:r>
            <a:r>
              <a:rPr lang="en-IN" sz="1800" dirty="0" err="1"/>
              <a:t>stockQuantity</a:t>
            </a:r>
            <a:r>
              <a:rPr lang="en-IN" sz="1800" dirty="0"/>
              <a:t>;  </a:t>
            </a:r>
            <a:r>
              <a:rPr lang="en-IN" sz="1800" dirty="0" err="1"/>
              <a:t>this.minStockLevel</a:t>
            </a:r>
            <a:r>
              <a:rPr lang="en-IN" sz="1800" dirty="0"/>
              <a:t> = </a:t>
            </a:r>
            <a:r>
              <a:rPr lang="en-IN" sz="1800" dirty="0" err="1"/>
              <a:t>minStockLevel</a:t>
            </a:r>
            <a:r>
              <a:rPr lang="en-IN" sz="1800" dirty="0"/>
              <a:t>;</a:t>
            </a:r>
          </a:p>
          <a:p>
            <a:pPr marL="0" indent="0">
              <a:buNone/>
            </a:pPr>
            <a:r>
              <a:rPr lang="en-IN" sz="1800" dirty="0"/>
              <a:t>    }</a:t>
            </a:r>
          </a:p>
          <a:p>
            <a:pPr marL="0" indent="0">
              <a:buNone/>
            </a:pPr>
            <a:r>
              <a:rPr lang="en-IN" sz="1800" dirty="0"/>
              <a:t>}</a:t>
            </a:r>
          </a:p>
          <a:p>
            <a:pPr marL="0" indent="0">
              <a:buNone/>
            </a:pPr>
            <a:endParaRPr lang="en-IN" sz="1800" dirty="0"/>
          </a:p>
        </p:txBody>
      </p:sp>
    </p:spTree>
    <p:extLst>
      <p:ext uri="{BB962C8B-B14F-4D97-AF65-F5344CB8AC3E}">
        <p14:creationId xmlns:p14="http://schemas.microsoft.com/office/powerpoint/2010/main" val="35337655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531C2-5B2A-4039-CA13-FF0D6A1E1B83}"/>
              </a:ext>
            </a:extLst>
          </p:cNvPr>
          <p:cNvSpPr>
            <a:spLocks noGrp="1"/>
          </p:cNvSpPr>
          <p:nvPr>
            <p:ph type="title"/>
          </p:nvPr>
        </p:nvSpPr>
        <p:spPr/>
        <p:txBody>
          <a:bodyPr/>
          <a:lstStyle/>
          <a:p>
            <a:r>
              <a:rPr lang="en-IN" dirty="0" err="1"/>
              <a:t>NotificationService</a:t>
            </a:r>
            <a:endParaRPr lang="en-IN" dirty="0"/>
          </a:p>
        </p:txBody>
      </p:sp>
      <p:sp>
        <p:nvSpPr>
          <p:cNvPr id="3" name="Content Placeholder 2">
            <a:extLst>
              <a:ext uri="{FF2B5EF4-FFF2-40B4-BE49-F238E27FC236}">
                <a16:creationId xmlns:a16="http://schemas.microsoft.com/office/drawing/2014/main" id="{67A5CB3D-1FDA-D171-0227-BF3BC824A444}"/>
              </a:ext>
            </a:extLst>
          </p:cNvPr>
          <p:cNvSpPr>
            <a:spLocks noGrp="1"/>
          </p:cNvSpPr>
          <p:nvPr>
            <p:ph idx="1"/>
          </p:nvPr>
        </p:nvSpPr>
        <p:spPr/>
        <p:txBody>
          <a:bodyPr>
            <a:noAutofit/>
          </a:bodyPr>
          <a:lstStyle/>
          <a:p>
            <a:pPr marL="0" indent="0">
              <a:buNone/>
            </a:pPr>
            <a:r>
              <a:rPr lang="en-IN" sz="1800" dirty="0"/>
              <a:t>public class </a:t>
            </a:r>
            <a:r>
              <a:rPr lang="en-IN" sz="1800" dirty="0" err="1"/>
              <a:t>NotificationService</a:t>
            </a:r>
            <a:r>
              <a:rPr lang="en-IN" sz="1800" dirty="0"/>
              <a:t> {</a:t>
            </a:r>
          </a:p>
          <a:p>
            <a:pPr marL="0" indent="0">
              <a:buNone/>
            </a:pPr>
            <a:r>
              <a:rPr lang="en-IN" sz="1800" dirty="0"/>
              <a:t>    public static void </a:t>
            </a:r>
            <a:r>
              <a:rPr lang="en-IN" sz="1800" dirty="0" err="1"/>
              <a:t>sendAlert</a:t>
            </a:r>
            <a:r>
              <a:rPr lang="en-IN" sz="1800" dirty="0"/>
              <a:t>(Product product) {</a:t>
            </a:r>
          </a:p>
          <a:p>
            <a:pPr marL="0" indent="0">
              <a:buNone/>
            </a:pPr>
            <a:r>
              <a:rPr lang="en-IN" sz="1800" dirty="0"/>
              <a:t>        </a:t>
            </a:r>
            <a:r>
              <a:rPr lang="en-IN" sz="1800" dirty="0" err="1"/>
              <a:t>System.out.println</a:t>
            </a:r>
            <a:r>
              <a:rPr lang="en-IN" sz="1800" dirty="0"/>
              <a:t>("⚠ ALERT!");</a:t>
            </a:r>
          </a:p>
          <a:p>
            <a:pPr marL="0" indent="0">
              <a:buNone/>
            </a:pPr>
            <a:r>
              <a:rPr lang="en-IN" sz="1800" dirty="0"/>
              <a:t>        </a:t>
            </a:r>
            <a:r>
              <a:rPr lang="en-IN" sz="1800" dirty="0" err="1"/>
              <a:t>System.out.println</a:t>
            </a:r>
            <a:r>
              <a:rPr lang="en-IN" sz="1800" dirty="0"/>
              <a:t>("Product Name : " + </a:t>
            </a:r>
            <a:r>
              <a:rPr lang="en-IN" sz="1800" dirty="0" err="1"/>
              <a:t>product.productName</a:t>
            </a:r>
            <a:r>
              <a:rPr lang="en-IN" sz="1800" dirty="0"/>
              <a:t>);</a:t>
            </a:r>
          </a:p>
          <a:p>
            <a:pPr marL="0" indent="0">
              <a:buNone/>
            </a:pPr>
            <a:r>
              <a:rPr lang="en-IN" sz="1800" dirty="0"/>
              <a:t>        </a:t>
            </a:r>
            <a:r>
              <a:rPr lang="en-IN" sz="1800" dirty="0" err="1"/>
              <a:t>System.out.println</a:t>
            </a:r>
            <a:r>
              <a:rPr lang="en-IN" sz="1800" dirty="0"/>
              <a:t>("Available Stock : " + </a:t>
            </a:r>
            <a:r>
              <a:rPr lang="en-IN" sz="1800" dirty="0" err="1"/>
              <a:t>product.stockQuantity</a:t>
            </a:r>
            <a:r>
              <a:rPr lang="en-IN" sz="1800" dirty="0"/>
              <a:t>);</a:t>
            </a:r>
          </a:p>
          <a:p>
            <a:pPr marL="0" indent="0">
              <a:buNone/>
            </a:pPr>
            <a:r>
              <a:rPr lang="en-IN" sz="1800" dirty="0"/>
              <a:t>        </a:t>
            </a:r>
            <a:r>
              <a:rPr lang="en-IN" sz="1800" dirty="0" err="1"/>
              <a:t>System.out.println</a:t>
            </a:r>
            <a:r>
              <a:rPr lang="en-IN" sz="1800" dirty="0"/>
              <a:t>("Minimum Required : " + </a:t>
            </a:r>
            <a:r>
              <a:rPr lang="en-IN" sz="1800" dirty="0" err="1"/>
              <a:t>product.minStockLevel</a:t>
            </a:r>
            <a:r>
              <a:rPr lang="en-IN" sz="1800" dirty="0"/>
              <a:t>);</a:t>
            </a:r>
          </a:p>
          <a:p>
            <a:pPr marL="0" indent="0">
              <a:buNone/>
            </a:pPr>
            <a:r>
              <a:rPr lang="en-IN" sz="1800" dirty="0"/>
              <a:t>        </a:t>
            </a:r>
            <a:r>
              <a:rPr lang="en-IN" sz="1800" dirty="0" err="1"/>
              <a:t>System.out.println</a:t>
            </a:r>
            <a:r>
              <a:rPr lang="en-IN" sz="1800" dirty="0"/>
              <a:t>("Please restock immediately.");</a:t>
            </a:r>
          </a:p>
          <a:p>
            <a:pPr marL="0" indent="0">
              <a:buNone/>
            </a:pPr>
            <a:r>
              <a:rPr lang="en-IN" sz="1800" dirty="0"/>
              <a:t>    }</a:t>
            </a:r>
          </a:p>
          <a:p>
            <a:pPr marL="0" indent="0">
              <a:buNone/>
            </a:pPr>
            <a:r>
              <a:rPr lang="en-IN" sz="1800" dirty="0"/>
              <a:t>}</a:t>
            </a:r>
          </a:p>
          <a:p>
            <a:pPr marL="0" indent="0">
              <a:buNone/>
            </a:pPr>
            <a:endParaRPr lang="en-IN" sz="1800" dirty="0"/>
          </a:p>
        </p:txBody>
      </p:sp>
    </p:spTree>
    <p:extLst>
      <p:ext uri="{BB962C8B-B14F-4D97-AF65-F5344CB8AC3E}">
        <p14:creationId xmlns:p14="http://schemas.microsoft.com/office/powerpoint/2010/main" val="10745618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83FC0-F0C9-C49E-EB3E-593A820B8663}"/>
              </a:ext>
            </a:extLst>
          </p:cNvPr>
          <p:cNvSpPr>
            <a:spLocks noGrp="1"/>
          </p:cNvSpPr>
          <p:nvPr>
            <p:ph type="title"/>
          </p:nvPr>
        </p:nvSpPr>
        <p:spPr/>
        <p:txBody>
          <a:bodyPr/>
          <a:lstStyle/>
          <a:p>
            <a:r>
              <a:rPr lang="en-IN" dirty="0" err="1"/>
              <a:t>AlertService</a:t>
            </a:r>
            <a:endParaRPr lang="en-IN" dirty="0"/>
          </a:p>
        </p:txBody>
      </p:sp>
      <p:sp>
        <p:nvSpPr>
          <p:cNvPr id="3" name="Content Placeholder 2">
            <a:extLst>
              <a:ext uri="{FF2B5EF4-FFF2-40B4-BE49-F238E27FC236}">
                <a16:creationId xmlns:a16="http://schemas.microsoft.com/office/drawing/2014/main" id="{18AEAD92-5CDD-F513-7F48-710744EA08C5}"/>
              </a:ext>
            </a:extLst>
          </p:cNvPr>
          <p:cNvSpPr>
            <a:spLocks noGrp="1"/>
          </p:cNvSpPr>
          <p:nvPr>
            <p:ph idx="1"/>
          </p:nvPr>
        </p:nvSpPr>
        <p:spPr>
          <a:xfrm>
            <a:off x="1295401" y="2408903"/>
            <a:ext cx="9601196" cy="3466965"/>
          </a:xfrm>
        </p:spPr>
        <p:txBody>
          <a:bodyPr>
            <a:noAutofit/>
          </a:bodyPr>
          <a:lstStyle/>
          <a:p>
            <a:pPr marL="0" indent="0">
              <a:buNone/>
            </a:pPr>
            <a:r>
              <a:rPr lang="en-IN" sz="1800" dirty="0"/>
              <a:t>public class </a:t>
            </a:r>
            <a:r>
              <a:rPr lang="en-IN" sz="1800" dirty="0" err="1"/>
              <a:t>AlertService</a:t>
            </a:r>
            <a:r>
              <a:rPr lang="en-IN" sz="1800" dirty="0"/>
              <a:t> {</a:t>
            </a:r>
          </a:p>
          <a:p>
            <a:pPr marL="0" indent="0">
              <a:buNone/>
            </a:pPr>
            <a:r>
              <a:rPr lang="en-IN" sz="1800" dirty="0"/>
              <a:t>    public void </a:t>
            </a:r>
            <a:r>
              <a:rPr lang="en-IN" sz="1800" dirty="0" err="1"/>
              <a:t>checkLowStock</a:t>
            </a:r>
            <a:r>
              <a:rPr lang="en-IN" sz="1800" dirty="0"/>
              <a:t>(Product product) {</a:t>
            </a:r>
          </a:p>
          <a:p>
            <a:pPr marL="0" indent="0">
              <a:buNone/>
            </a:pPr>
            <a:r>
              <a:rPr lang="en-IN" sz="1800" dirty="0"/>
              <a:t>        if (</a:t>
            </a:r>
            <a:r>
              <a:rPr lang="en-IN" sz="1800" dirty="0" err="1"/>
              <a:t>product.stockQuantity</a:t>
            </a:r>
            <a:r>
              <a:rPr lang="en-IN" sz="1800" dirty="0"/>
              <a:t> &lt; </a:t>
            </a:r>
            <a:r>
              <a:rPr lang="en-IN" sz="1800" dirty="0" err="1"/>
              <a:t>product.minStockLevel</a:t>
            </a:r>
            <a:r>
              <a:rPr lang="en-IN" sz="1800" dirty="0"/>
              <a:t>) {</a:t>
            </a:r>
          </a:p>
          <a:p>
            <a:pPr marL="0" indent="0">
              <a:buNone/>
            </a:pPr>
            <a:r>
              <a:rPr lang="en-IN" sz="1800" dirty="0"/>
              <a:t>            </a:t>
            </a:r>
            <a:r>
              <a:rPr lang="en-IN" sz="1800" dirty="0" err="1"/>
              <a:t>NotificationService.sendAlert</a:t>
            </a:r>
            <a:r>
              <a:rPr lang="en-IN" sz="1800" dirty="0"/>
              <a:t>(product);</a:t>
            </a:r>
          </a:p>
          <a:p>
            <a:pPr marL="0" indent="0">
              <a:buNone/>
            </a:pPr>
            <a:r>
              <a:rPr lang="en-IN" sz="1800" dirty="0"/>
              <a:t>        } else {</a:t>
            </a:r>
          </a:p>
          <a:p>
            <a:pPr marL="0" indent="0">
              <a:buNone/>
            </a:pPr>
            <a:r>
              <a:rPr lang="en-IN" sz="1800" dirty="0"/>
              <a:t>            </a:t>
            </a:r>
            <a:r>
              <a:rPr lang="en-IN" sz="1800" dirty="0" err="1"/>
              <a:t>System.out.println</a:t>
            </a:r>
            <a:r>
              <a:rPr lang="en-IN" sz="1800" dirty="0"/>
              <a:t>("Stock level is sufficient for “+ </a:t>
            </a:r>
            <a:r>
              <a:rPr lang="en-IN" sz="1800" dirty="0" err="1"/>
              <a:t>product.productName</a:t>
            </a:r>
            <a:r>
              <a:rPr lang="en-IN" sz="1800" dirty="0"/>
              <a:t>);</a:t>
            </a:r>
          </a:p>
          <a:p>
            <a:pPr marL="0" indent="0">
              <a:buNone/>
            </a:pPr>
            <a:r>
              <a:rPr lang="en-IN" sz="1800" dirty="0"/>
              <a:t>        } </a:t>
            </a:r>
          </a:p>
          <a:p>
            <a:pPr marL="0" indent="0">
              <a:buNone/>
            </a:pPr>
            <a:r>
              <a:rPr lang="en-IN" sz="1800" dirty="0"/>
              <a:t>}</a:t>
            </a:r>
          </a:p>
          <a:p>
            <a:pPr marL="0" indent="0">
              <a:buNone/>
            </a:pPr>
            <a:r>
              <a:rPr lang="en-IN" sz="1800" dirty="0"/>
              <a:t>}</a:t>
            </a:r>
          </a:p>
          <a:p>
            <a:pPr marL="0" indent="0">
              <a:buNone/>
            </a:pPr>
            <a:endParaRPr lang="en-IN" sz="1800" dirty="0"/>
          </a:p>
        </p:txBody>
      </p:sp>
    </p:spTree>
    <p:extLst>
      <p:ext uri="{BB962C8B-B14F-4D97-AF65-F5344CB8AC3E}">
        <p14:creationId xmlns:p14="http://schemas.microsoft.com/office/powerpoint/2010/main" val="5470896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F9176-5A0F-476A-AE71-E02B5C922031}"/>
              </a:ext>
            </a:extLst>
          </p:cNvPr>
          <p:cNvSpPr>
            <a:spLocks noGrp="1"/>
          </p:cNvSpPr>
          <p:nvPr>
            <p:ph type="title"/>
          </p:nvPr>
        </p:nvSpPr>
        <p:spPr/>
        <p:txBody>
          <a:bodyPr/>
          <a:lstStyle/>
          <a:p>
            <a:r>
              <a:rPr lang="en-IN" dirty="0" err="1"/>
              <a:t>InventoryAlertDemo</a:t>
            </a:r>
            <a:endParaRPr lang="en-IN" dirty="0"/>
          </a:p>
        </p:txBody>
      </p:sp>
      <p:sp>
        <p:nvSpPr>
          <p:cNvPr id="3" name="Content Placeholder 2">
            <a:extLst>
              <a:ext uri="{FF2B5EF4-FFF2-40B4-BE49-F238E27FC236}">
                <a16:creationId xmlns:a16="http://schemas.microsoft.com/office/drawing/2014/main" id="{432C2E1F-9C0A-0C7D-7130-5FFEF0288C5A}"/>
              </a:ext>
            </a:extLst>
          </p:cNvPr>
          <p:cNvSpPr>
            <a:spLocks noGrp="1"/>
          </p:cNvSpPr>
          <p:nvPr>
            <p:ph idx="1"/>
          </p:nvPr>
        </p:nvSpPr>
        <p:spPr/>
        <p:txBody>
          <a:bodyPr>
            <a:noAutofit/>
          </a:bodyPr>
          <a:lstStyle/>
          <a:p>
            <a:pPr marL="0" indent="0">
              <a:buNone/>
            </a:pPr>
            <a:r>
              <a:rPr lang="en-IN" sz="1800" dirty="0"/>
              <a:t>public class </a:t>
            </a:r>
            <a:r>
              <a:rPr lang="en-IN" sz="1800" dirty="0" err="1"/>
              <a:t>InventoryAlertDemo</a:t>
            </a:r>
            <a:r>
              <a:rPr lang="en-IN" sz="1800" dirty="0"/>
              <a:t> {</a:t>
            </a:r>
          </a:p>
          <a:p>
            <a:pPr marL="0" indent="0">
              <a:buNone/>
            </a:pPr>
            <a:r>
              <a:rPr lang="en-IN" sz="1800" dirty="0"/>
              <a:t>public static void main(String[] </a:t>
            </a:r>
            <a:r>
              <a:rPr lang="en-IN" sz="1800" dirty="0" err="1"/>
              <a:t>args</a:t>
            </a:r>
            <a:r>
              <a:rPr lang="en-IN" sz="1800" dirty="0"/>
              <a:t>) {   // Create product with low stock</a:t>
            </a:r>
          </a:p>
          <a:p>
            <a:pPr marL="0" indent="0">
              <a:buNone/>
            </a:pPr>
            <a:r>
              <a:rPr lang="en-IN" sz="1800" dirty="0"/>
              <a:t>  Product </a:t>
            </a:r>
            <a:r>
              <a:rPr lang="en-IN" sz="1800" dirty="0" err="1"/>
              <a:t>product</a:t>
            </a:r>
            <a:r>
              <a:rPr lang="en-IN" sz="1800" dirty="0"/>
              <a:t> = new Product(  "PR101", "Cricket Bat", 5,  // current stock 10 // minimum stock level   );</a:t>
            </a:r>
          </a:p>
          <a:p>
            <a:pPr marL="0" indent="0">
              <a:buNone/>
            </a:pPr>
            <a:r>
              <a:rPr lang="en-IN" sz="1800" dirty="0"/>
              <a:t>// Alert service</a:t>
            </a:r>
          </a:p>
          <a:p>
            <a:pPr marL="0" indent="0">
              <a:buNone/>
            </a:pPr>
            <a:r>
              <a:rPr lang="en-IN" sz="1800" dirty="0"/>
              <a:t>        </a:t>
            </a:r>
            <a:r>
              <a:rPr lang="en-IN" sz="1800" dirty="0" err="1"/>
              <a:t>AlertService</a:t>
            </a:r>
            <a:r>
              <a:rPr lang="en-IN" sz="1800" dirty="0"/>
              <a:t> </a:t>
            </a:r>
            <a:r>
              <a:rPr lang="en-IN" sz="1800" dirty="0" err="1"/>
              <a:t>alertService</a:t>
            </a:r>
            <a:r>
              <a:rPr lang="en-IN" sz="1800" dirty="0"/>
              <a:t> = new </a:t>
            </a:r>
            <a:r>
              <a:rPr lang="en-IN" sz="1800" dirty="0" err="1"/>
              <a:t>AlertService</a:t>
            </a:r>
            <a:r>
              <a:rPr lang="en-IN" sz="1800" dirty="0"/>
              <a:t>();</a:t>
            </a:r>
          </a:p>
          <a:p>
            <a:pPr marL="0" indent="0">
              <a:buNone/>
            </a:pPr>
            <a:r>
              <a:rPr lang="en-IN" sz="1800" dirty="0"/>
              <a:t>        </a:t>
            </a:r>
            <a:r>
              <a:rPr lang="en-IN" sz="1800" dirty="0" err="1"/>
              <a:t>alertService.checkLowStock</a:t>
            </a:r>
            <a:r>
              <a:rPr lang="en-IN" sz="1800" dirty="0"/>
              <a:t>(product);</a:t>
            </a:r>
          </a:p>
          <a:p>
            <a:pPr marL="0" indent="0">
              <a:buNone/>
            </a:pPr>
            <a:r>
              <a:rPr lang="en-IN" sz="1800" dirty="0"/>
              <a:t>    }</a:t>
            </a:r>
          </a:p>
          <a:p>
            <a:pPr marL="0" indent="0">
              <a:buNone/>
            </a:pPr>
            <a:r>
              <a:rPr lang="en-IN" sz="1800" dirty="0"/>
              <a:t>}</a:t>
            </a:r>
          </a:p>
          <a:p>
            <a:pPr marL="0" indent="0">
              <a:buNone/>
            </a:pPr>
            <a:endParaRPr lang="en-IN" sz="1800" dirty="0"/>
          </a:p>
        </p:txBody>
      </p:sp>
    </p:spTree>
    <p:extLst>
      <p:ext uri="{BB962C8B-B14F-4D97-AF65-F5344CB8AC3E}">
        <p14:creationId xmlns:p14="http://schemas.microsoft.com/office/powerpoint/2010/main" val="41344422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05E7D-5759-F8BF-E6A1-6DDB1536A58E}"/>
              </a:ext>
            </a:extLst>
          </p:cNvPr>
          <p:cNvSpPr>
            <a:spLocks noGrp="1"/>
          </p:cNvSpPr>
          <p:nvPr>
            <p:ph type="title"/>
          </p:nvPr>
        </p:nvSpPr>
        <p:spPr/>
        <p:txBody>
          <a:bodyPr/>
          <a:lstStyle/>
          <a:p>
            <a:r>
              <a:rPr lang="en-IN" dirty="0"/>
              <a:t>Expected Output </a:t>
            </a:r>
          </a:p>
        </p:txBody>
      </p:sp>
      <p:pic>
        <p:nvPicPr>
          <p:cNvPr id="5" name="Content Placeholder 4">
            <a:extLst>
              <a:ext uri="{FF2B5EF4-FFF2-40B4-BE49-F238E27FC236}">
                <a16:creationId xmlns:a16="http://schemas.microsoft.com/office/drawing/2014/main" id="{B2295C95-D10E-1732-206C-3FC81F01F418}"/>
              </a:ext>
            </a:extLst>
          </p:cNvPr>
          <p:cNvPicPr>
            <a:picLocks noGrp="1" noChangeAspect="1"/>
          </p:cNvPicPr>
          <p:nvPr>
            <p:ph idx="1"/>
          </p:nvPr>
        </p:nvPicPr>
        <p:blipFill>
          <a:blip r:embed="rId2"/>
          <a:stretch>
            <a:fillRect/>
          </a:stretch>
        </p:blipFill>
        <p:spPr>
          <a:xfrm>
            <a:off x="3179007" y="2470486"/>
            <a:ext cx="6317920" cy="3705726"/>
          </a:xfrm>
          <a:prstGeom prst="rect">
            <a:avLst/>
          </a:prstGeom>
        </p:spPr>
      </p:pic>
    </p:spTree>
    <p:extLst>
      <p:ext uri="{BB962C8B-B14F-4D97-AF65-F5344CB8AC3E}">
        <p14:creationId xmlns:p14="http://schemas.microsoft.com/office/powerpoint/2010/main" val="3644575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EA963-5EE0-43F3-2F65-CB9A6FD98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CDC846-DD2B-CAE7-511E-552DE1550D94}"/>
              </a:ext>
            </a:extLst>
          </p:cNvPr>
          <p:cNvSpPr>
            <a:spLocks noGrp="1"/>
          </p:cNvSpPr>
          <p:nvPr>
            <p:ph type="ctrTitle"/>
          </p:nvPr>
        </p:nvSpPr>
        <p:spPr>
          <a:xfrm>
            <a:off x="2692398" y="1871131"/>
            <a:ext cx="6815669" cy="2907346"/>
          </a:xfrm>
        </p:spPr>
        <p:txBody>
          <a:bodyPr/>
          <a:lstStyle/>
          <a:p>
            <a:r>
              <a:rPr lang="en-IN" sz="3600" b="1" dirty="0">
                <a:solidFill>
                  <a:srgbClr val="FF0000"/>
                </a:solidFill>
              </a:rPr>
              <a:t>Inventra – Intelligent Inventory Management System</a:t>
            </a:r>
            <a:br>
              <a:rPr lang="en-IN" sz="3600" b="1" dirty="0">
                <a:solidFill>
                  <a:srgbClr val="FF0000"/>
                </a:solidFill>
              </a:rPr>
            </a:br>
            <a:br>
              <a:rPr lang="en-IN" sz="3600" b="1" dirty="0">
                <a:solidFill>
                  <a:srgbClr val="FF0000"/>
                </a:solidFill>
              </a:rPr>
            </a:br>
            <a:br>
              <a:rPr lang="en-IN" sz="3600" b="1" dirty="0">
                <a:solidFill>
                  <a:srgbClr val="FF0000"/>
                </a:solidFill>
              </a:rPr>
            </a:br>
            <a:r>
              <a:rPr lang="en-IN" sz="3600" b="1" dirty="0">
                <a:solidFill>
                  <a:schemeClr val="tx1"/>
                </a:solidFill>
              </a:rPr>
              <a:t>Milestone 4</a:t>
            </a:r>
          </a:p>
        </p:txBody>
      </p:sp>
    </p:spTree>
    <p:extLst>
      <p:ext uri="{BB962C8B-B14F-4D97-AF65-F5344CB8AC3E}">
        <p14:creationId xmlns:p14="http://schemas.microsoft.com/office/powerpoint/2010/main" val="24376404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9EC98-00F4-01C0-87B1-7DA571473320}"/>
              </a:ext>
            </a:extLst>
          </p:cNvPr>
          <p:cNvSpPr>
            <a:spLocks noGrp="1"/>
          </p:cNvSpPr>
          <p:nvPr>
            <p:ph type="title"/>
          </p:nvPr>
        </p:nvSpPr>
        <p:spPr/>
        <p:txBody>
          <a:bodyPr>
            <a:normAutofit fontScale="90000"/>
          </a:bodyPr>
          <a:lstStyle/>
          <a:p>
            <a:r>
              <a:rPr lang="en-IN" dirty="0">
                <a:solidFill>
                  <a:srgbClr val="FF0000"/>
                </a:solidFill>
              </a:rPr>
              <a:t>Module 4: Reports &amp; Analytics</a:t>
            </a:r>
            <a:br>
              <a:rPr lang="en-IN" dirty="0"/>
            </a:br>
            <a:r>
              <a:rPr lang="en-IN" b="1" dirty="0"/>
              <a:t>Purpose of Reports &amp; Analytics</a:t>
            </a:r>
          </a:p>
        </p:txBody>
      </p:sp>
      <p:sp>
        <p:nvSpPr>
          <p:cNvPr id="3" name="Content Placeholder 2">
            <a:extLst>
              <a:ext uri="{FF2B5EF4-FFF2-40B4-BE49-F238E27FC236}">
                <a16:creationId xmlns:a16="http://schemas.microsoft.com/office/drawing/2014/main" id="{5FB7468E-4C70-AA6C-12FD-91D5303E7AE4}"/>
              </a:ext>
            </a:extLst>
          </p:cNvPr>
          <p:cNvSpPr>
            <a:spLocks noGrp="1"/>
          </p:cNvSpPr>
          <p:nvPr>
            <p:ph idx="1"/>
          </p:nvPr>
        </p:nvSpPr>
        <p:spPr/>
        <p:txBody>
          <a:bodyPr/>
          <a:lstStyle/>
          <a:p>
            <a:r>
              <a:rPr lang="en-US" dirty="0"/>
              <a:t>Reports &amp; Analytics converts raw inventory data into meaningful information.</a:t>
            </a:r>
          </a:p>
          <a:p>
            <a:r>
              <a:rPr lang="en-US" dirty="0"/>
              <a:t>It helps managers understand stock levels, identify trends, and make better decisions.</a:t>
            </a:r>
            <a:endParaRPr lang="en-IN" dirty="0"/>
          </a:p>
        </p:txBody>
      </p:sp>
      <p:pic>
        <p:nvPicPr>
          <p:cNvPr id="5" name="Picture 4">
            <a:extLst>
              <a:ext uri="{FF2B5EF4-FFF2-40B4-BE49-F238E27FC236}">
                <a16:creationId xmlns:a16="http://schemas.microsoft.com/office/drawing/2014/main" id="{E4803563-A00A-5774-8C3E-01CA213EC081}"/>
              </a:ext>
            </a:extLst>
          </p:cNvPr>
          <p:cNvPicPr>
            <a:picLocks noChangeAspect="1"/>
          </p:cNvPicPr>
          <p:nvPr/>
        </p:nvPicPr>
        <p:blipFill>
          <a:blip r:embed="rId2"/>
          <a:stretch>
            <a:fillRect/>
          </a:stretch>
        </p:blipFill>
        <p:spPr>
          <a:xfrm>
            <a:off x="3382296" y="3913435"/>
            <a:ext cx="6633133" cy="2321162"/>
          </a:xfrm>
          <a:prstGeom prst="rect">
            <a:avLst/>
          </a:prstGeom>
        </p:spPr>
      </p:pic>
    </p:spTree>
    <p:extLst>
      <p:ext uri="{BB962C8B-B14F-4D97-AF65-F5344CB8AC3E}">
        <p14:creationId xmlns:p14="http://schemas.microsoft.com/office/powerpoint/2010/main" val="8233649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36407-6DAA-75FB-57F6-8E3D1E81CDCB}"/>
              </a:ext>
            </a:extLst>
          </p:cNvPr>
          <p:cNvSpPr>
            <a:spLocks noGrp="1"/>
          </p:cNvSpPr>
          <p:nvPr>
            <p:ph type="title"/>
          </p:nvPr>
        </p:nvSpPr>
        <p:spPr/>
        <p:txBody>
          <a:bodyPr/>
          <a:lstStyle/>
          <a:p>
            <a:r>
              <a:rPr lang="en-IN" b="1" dirty="0"/>
              <a:t>Objectives </a:t>
            </a:r>
          </a:p>
        </p:txBody>
      </p:sp>
      <p:sp>
        <p:nvSpPr>
          <p:cNvPr id="5" name="Rectangle 2">
            <a:extLst>
              <a:ext uri="{FF2B5EF4-FFF2-40B4-BE49-F238E27FC236}">
                <a16:creationId xmlns:a16="http://schemas.microsoft.com/office/drawing/2014/main" id="{81848891-D80D-5FFE-CD68-F48E37BC4E66}"/>
              </a:ext>
            </a:extLst>
          </p:cNvPr>
          <p:cNvSpPr>
            <a:spLocks noGrp="1" noChangeArrowheads="1"/>
          </p:cNvSpPr>
          <p:nvPr>
            <p:ph idx="1"/>
          </p:nvPr>
        </p:nvSpPr>
        <p:spPr bwMode="auto">
          <a:xfrm>
            <a:off x="1042219" y="2504532"/>
            <a:ext cx="6612305" cy="2597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ClrTx/>
              <a:buSzTx/>
            </a:pPr>
            <a:r>
              <a:rPr kumimoji="0" lang="en-US" altLang="en-US" sz="2800" b="0" i="0" u="none" strike="noStrike" cap="none" normalizeH="0" baseline="0" dirty="0">
                <a:ln>
                  <a:noFill/>
                </a:ln>
                <a:solidFill>
                  <a:schemeClr val="tx1"/>
                </a:solidFill>
                <a:effectLst/>
                <a:latin typeface="Arial" panose="020B0604020202020204" pitchFamily="34" charset="0"/>
              </a:rPr>
              <a:t>Generate inventory summary report</a:t>
            </a:r>
          </a:p>
          <a:p>
            <a:pPr defTabSz="914400" eaLnBrk="0" fontAlgn="base" hangingPunct="0">
              <a:lnSpc>
                <a:spcPct val="150000"/>
              </a:lnSpc>
              <a:spcBef>
                <a:spcPct val="0"/>
              </a:spcBef>
              <a:spcAft>
                <a:spcPct val="0"/>
              </a:spcAft>
              <a:buClrTx/>
              <a:buSzTx/>
            </a:pPr>
            <a:r>
              <a:rPr kumimoji="0" lang="en-US" altLang="en-US" sz="2800" b="0" i="0" u="none" strike="noStrike" cap="none" normalizeH="0" baseline="0" dirty="0">
                <a:ln>
                  <a:noFill/>
                </a:ln>
                <a:solidFill>
                  <a:schemeClr val="tx1"/>
                </a:solidFill>
                <a:effectLst/>
                <a:latin typeface="Arial" panose="020B0604020202020204" pitchFamily="34" charset="0"/>
              </a:rPr>
              <a:t>Identify highest stock product</a:t>
            </a:r>
          </a:p>
          <a:p>
            <a:pPr defTabSz="914400" eaLnBrk="0" fontAlgn="base" hangingPunct="0">
              <a:lnSpc>
                <a:spcPct val="150000"/>
              </a:lnSpc>
              <a:spcBef>
                <a:spcPct val="0"/>
              </a:spcBef>
              <a:spcAft>
                <a:spcPct val="0"/>
              </a:spcAft>
              <a:buClrTx/>
              <a:buSzTx/>
            </a:pPr>
            <a:r>
              <a:rPr kumimoji="0" lang="en-US" altLang="en-US" sz="2800" b="0" i="0" u="none" strike="noStrike" cap="none" normalizeH="0" baseline="0" dirty="0">
                <a:ln>
                  <a:noFill/>
                </a:ln>
                <a:solidFill>
                  <a:schemeClr val="tx1"/>
                </a:solidFill>
                <a:effectLst/>
                <a:latin typeface="Arial" panose="020B0604020202020204" pitchFamily="34" charset="0"/>
              </a:rPr>
              <a:t>Identify lowest stock product</a:t>
            </a:r>
          </a:p>
          <a:p>
            <a:pPr defTabSz="914400" eaLnBrk="0" fontAlgn="base" hangingPunct="0">
              <a:lnSpc>
                <a:spcPct val="150000"/>
              </a:lnSpc>
              <a:spcBef>
                <a:spcPct val="0"/>
              </a:spcBef>
              <a:spcAft>
                <a:spcPct val="0"/>
              </a:spcAft>
              <a:buClrTx/>
              <a:buSzTx/>
            </a:pPr>
            <a:r>
              <a:rPr kumimoji="0" lang="en-US" altLang="en-US" sz="2800" b="0" i="0" u="none" strike="noStrike" cap="none" normalizeH="0" baseline="0" dirty="0">
                <a:ln>
                  <a:noFill/>
                </a:ln>
                <a:solidFill>
                  <a:schemeClr val="tx1"/>
                </a:solidFill>
                <a:effectLst/>
                <a:latin typeface="Arial" panose="020B0604020202020204" pitchFamily="34" charset="0"/>
              </a:rPr>
              <a:t>Display total stock information”</a:t>
            </a:r>
          </a:p>
        </p:txBody>
      </p:sp>
      <p:pic>
        <p:nvPicPr>
          <p:cNvPr id="1030" name="Picture 6" descr="Retail Inventory Management KPI Dashboard">
            <a:extLst>
              <a:ext uri="{FF2B5EF4-FFF2-40B4-BE49-F238E27FC236}">
                <a16:creationId xmlns:a16="http://schemas.microsoft.com/office/drawing/2014/main" id="{FE6F0D54-52FC-9526-040C-882D7D63CBE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806" t="14321" r="1774" b="39928"/>
          <a:stretch>
            <a:fillRect/>
          </a:stretch>
        </p:blipFill>
        <p:spPr bwMode="auto">
          <a:xfrm>
            <a:off x="7315201" y="2430791"/>
            <a:ext cx="3952568" cy="3137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4943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DAB10-2606-6462-7036-D658D3B9F4B4}"/>
              </a:ext>
            </a:extLst>
          </p:cNvPr>
          <p:cNvSpPr>
            <a:spLocks noGrp="1"/>
          </p:cNvSpPr>
          <p:nvPr>
            <p:ph type="title"/>
          </p:nvPr>
        </p:nvSpPr>
        <p:spPr/>
        <p:txBody>
          <a:bodyPr>
            <a:normAutofit fontScale="90000"/>
          </a:bodyPr>
          <a:lstStyle/>
          <a:p>
            <a:r>
              <a:rPr lang="en-IN" b="1" dirty="0"/>
              <a:t>Flowchart – Reports &amp; Analytics Process</a:t>
            </a:r>
          </a:p>
        </p:txBody>
      </p:sp>
      <p:pic>
        <p:nvPicPr>
          <p:cNvPr id="7" name="Picture 6">
            <a:extLst>
              <a:ext uri="{FF2B5EF4-FFF2-40B4-BE49-F238E27FC236}">
                <a16:creationId xmlns:a16="http://schemas.microsoft.com/office/drawing/2014/main" id="{487CA92B-3F7B-C993-8E93-DF0A2406D953}"/>
              </a:ext>
            </a:extLst>
          </p:cNvPr>
          <p:cNvPicPr>
            <a:picLocks noChangeAspect="1"/>
          </p:cNvPicPr>
          <p:nvPr/>
        </p:nvPicPr>
        <p:blipFill>
          <a:blip r:embed="rId2"/>
          <a:srcRect t="3472" b="8130"/>
          <a:stretch>
            <a:fillRect/>
          </a:stretch>
        </p:blipFill>
        <p:spPr>
          <a:xfrm>
            <a:off x="4215635" y="2759040"/>
            <a:ext cx="5460212" cy="3116828"/>
          </a:xfrm>
          <a:prstGeom prst="rect">
            <a:avLst/>
          </a:prstGeom>
        </p:spPr>
      </p:pic>
      <p:sp>
        <p:nvSpPr>
          <p:cNvPr id="9" name="Content Placeholder 8">
            <a:extLst>
              <a:ext uri="{FF2B5EF4-FFF2-40B4-BE49-F238E27FC236}">
                <a16:creationId xmlns:a16="http://schemas.microsoft.com/office/drawing/2014/main" id="{B82A91D0-78D1-2CB7-255F-82284EF7B073}"/>
              </a:ext>
            </a:extLst>
          </p:cNvPr>
          <p:cNvSpPr>
            <a:spLocks noGrp="1"/>
          </p:cNvSpPr>
          <p:nvPr>
            <p:ph idx="1"/>
          </p:nvPr>
        </p:nvSpPr>
        <p:spPr>
          <a:xfrm>
            <a:off x="835742" y="1995949"/>
            <a:ext cx="10060855" cy="3879920"/>
          </a:xfrm>
        </p:spPr>
        <p:txBody>
          <a:bodyPr>
            <a:noAutofit/>
          </a:bodyPr>
          <a:lstStyle/>
          <a:p>
            <a:pPr marL="0" indent="0">
              <a:spcBef>
                <a:spcPts val="0"/>
              </a:spcBef>
              <a:buNone/>
            </a:pPr>
            <a:r>
              <a:rPr lang="en-US" sz="1600" dirty="0"/>
              <a:t>START</a:t>
            </a:r>
          </a:p>
          <a:p>
            <a:pPr marL="0" indent="0">
              <a:spcBef>
                <a:spcPts val="0"/>
              </a:spcBef>
              <a:buNone/>
            </a:pPr>
            <a:r>
              <a:rPr lang="en-US" sz="1600" dirty="0"/>
              <a:t>   |</a:t>
            </a:r>
          </a:p>
          <a:p>
            <a:pPr marL="0" indent="0">
              <a:spcBef>
                <a:spcPts val="0"/>
              </a:spcBef>
              <a:buNone/>
            </a:pPr>
            <a:r>
              <a:rPr lang="en-US" sz="1600" dirty="0"/>
              <a:t>Load Inventory Data</a:t>
            </a:r>
          </a:p>
          <a:p>
            <a:pPr marL="0" indent="0">
              <a:spcBef>
                <a:spcPts val="0"/>
              </a:spcBef>
              <a:buNone/>
            </a:pPr>
            <a:r>
              <a:rPr lang="en-US" sz="1600" dirty="0"/>
              <a:t>  |</a:t>
            </a:r>
          </a:p>
          <a:p>
            <a:pPr marL="0" indent="0">
              <a:spcBef>
                <a:spcPts val="0"/>
              </a:spcBef>
              <a:buNone/>
            </a:pPr>
            <a:r>
              <a:rPr lang="en-US" sz="1600" dirty="0"/>
              <a:t>Calculate Total Stock</a:t>
            </a:r>
          </a:p>
          <a:p>
            <a:pPr marL="0" indent="0">
              <a:spcBef>
                <a:spcPts val="0"/>
              </a:spcBef>
              <a:buNone/>
            </a:pPr>
            <a:r>
              <a:rPr lang="en-US" sz="1600" dirty="0"/>
              <a:t>  |</a:t>
            </a:r>
          </a:p>
          <a:p>
            <a:pPr marL="0" indent="0">
              <a:spcBef>
                <a:spcPts val="0"/>
              </a:spcBef>
              <a:buNone/>
            </a:pPr>
            <a:r>
              <a:rPr lang="en-US" sz="1600" dirty="0"/>
              <a:t>Find Highest Stock Product</a:t>
            </a:r>
          </a:p>
          <a:p>
            <a:pPr marL="0" indent="0">
              <a:spcBef>
                <a:spcPts val="0"/>
              </a:spcBef>
              <a:buNone/>
            </a:pPr>
            <a:r>
              <a:rPr lang="en-US" sz="1600" dirty="0"/>
              <a:t>  |</a:t>
            </a:r>
          </a:p>
          <a:p>
            <a:pPr marL="0" indent="0">
              <a:spcBef>
                <a:spcPts val="0"/>
              </a:spcBef>
              <a:buNone/>
            </a:pPr>
            <a:r>
              <a:rPr lang="en-US" sz="1600" dirty="0"/>
              <a:t>Find Lowest Stock Product</a:t>
            </a:r>
          </a:p>
          <a:p>
            <a:pPr marL="0" indent="0">
              <a:spcBef>
                <a:spcPts val="0"/>
              </a:spcBef>
              <a:buNone/>
            </a:pPr>
            <a:r>
              <a:rPr lang="en-US" sz="1600" dirty="0"/>
              <a:t> |</a:t>
            </a:r>
          </a:p>
          <a:p>
            <a:pPr marL="0" indent="0">
              <a:spcBef>
                <a:spcPts val="0"/>
              </a:spcBef>
              <a:buNone/>
            </a:pPr>
            <a:r>
              <a:rPr lang="en-US" sz="1600" dirty="0"/>
              <a:t>Display Reports</a:t>
            </a:r>
          </a:p>
          <a:p>
            <a:pPr marL="0" indent="0">
              <a:spcBef>
                <a:spcPts val="0"/>
              </a:spcBef>
              <a:buNone/>
            </a:pPr>
            <a:r>
              <a:rPr lang="en-US" sz="1600" dirty="0"/>
              <a:t>  |</a:t>
            </a:r>
          </a:p>
          <a:p>
            <a:pPr marL="0" indent="0">
              <a:spcBef>
                <a:spcPts val="0"/>
              </a:spcBef>
              <a:buNone/>
            </a:pPr>
            <a:r>
              <a:rPr lang="en-US" sz="1600" dirty="0"/>
              <a:t>END</a:t>
            </a:r>
          </a:p>
          <a:p>
            <a:pPr marL="0" indent="0">
              <a:spcBef>
                <a:spcPts val="0"/>
              </a:spcBef>
              <a:buNone/>
            </a:pPr>
            <a:endParaRPr lang="en-IN" sz="1600" dirty="0"/>
          </a:p>
        </p:txBody>
      </p:sp>
    </p:spTree>
    <p:extLst>
      <p:ext uri="{BB962C8B-B14F-4D97-AF65-F5344CB8AC3E}">
        <p14:creationId xmlns:p14="http://schemas.microsoft.com/office/powerpoint/2010/main" val="11634768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BB1DC-0D6A-919F-5873-70DCC960730D}"/>
              </a:ext>
            </a:extLst>
          </p:cNvPr>
          <p:cNvSpPr>
            <a:spLocks noGrp="1"/>
          </p:cNvSpPr>
          <p:nvPr>
            <p:ph type="title"/>
          </p:nvPr>
        </p:nvSpPr>
        <p:spPr/>
        <p:txBody>
          <a:bodyPr/>
          <a:lstStyle/>
          <a:p>
            <a:r>
              <a:rPr lang="en-IN" b="1" dirty="0"/>
              <a:t>Types of Reports Generated</a:t>
            </a:r>
          </a:p>
        </p:txBody>
      </p:sp>
      <p:sp>
        <p:nvSpPr>
          <p:cNvPr id="3" name="Content Placeholder 2">
            <a:extLst>
              <a:ext uri="{FF2B5EF4-FFF2-40B4-BE49-F238E27FC236}">
                <a16:creationId xmlns:a16="http://schemas.microsoft.com/office/drawing/2014/main" id="{97E3F764-0BD2-D954-0329-2E50766A162A}"/>
              </a:ext>
            </a:extLst>
          </p:cNvPr>
          <p:cNvSpPr>
            <a:spLocks noGrp="1"/>
          </p:cNvSpPr>
          <p:nvPr>
            <p:ph idx="1"/>
          </p:nvPr>
        </p:nvSpPr>
        <p:spPr/>
        <p:txBody>
          <a:bodyPr>
            <a:normAutofit fontScale="92500" lnSpcReduction="10000"/>
          </a:bodyPr>
          <a:lstStyle/>
          <a:p>
            <a:r>
              <a:rPr lang="en-US" b="1" dirty="0"/>
              <a:t>Inventory Summary Report</a:t>
            </a:r>
          </a:p>
          <a:p>
            <a:pPr marL="0" indent="0">
              <a:buNone/>
            </a:pPr>
            <a:r>
              <a:rPr lang="en-US" dirty="0"/>
              <a:t>Total number of products</a:t>
            </a:r>
          </a:p>
          <a:p>
            <a:pPr marL="0" indent="0">
              <a:buNone/>
            </a:pPr>
            <a:r>
              <a:rPr lang="en-US" dirty="0"/>
              <a:t>Total stock available</a:t>
            </a:r>
          </a:p>
          <a:p>
            <a:r>
              <a:rPr lang="en-US" b="1" dirty="0"/>
              <a:t>Highest Stock Product</a:t>
            </a:r>
          </a:p>
          <a:p>
            <a:pPr marL="0" indent="0">
              <a:buNone/>
            </a:pPr>
            <a:r>
              <a:rPr lang="en-US" dirty="0"/>
              <a:t>Helps detect overstocked items</a:t>
            </a:r>
          </a:p>
          <a:p>
            <a:r>
              <a:rPr lang="en-US" b="1" dirty="0"/>
              <a:t> Lowest Stock Product</a:t>
            </a:r>
          </a:p>
          <a:p>
            <a:pPr marL="0" indent="0">
              <a:buNone/>
            </a:pPr>
            <a:r>
              <a:rPr lang="en-US" dirty="0"/>
              <a:t>Helps reorder items early</a:t>
            </a:r>
          </a:p>
          <a:p>
            <a:endParaRPr lang="en-IN" dirty="0"/>
          </a:p>
        </p:txBody>
      </p:sp>
      <p:pic>
        <p:nvPicPr>
          <p:cNvPr id="5" name="Picture 4">
            <a:extLst>
              <a:ext uri="{FF2B5EF4-FFF2-40B4-BE49-F238E27FC236}">
                <a16:creationId xmlns:a16="http://schemas.microsoft.com/office/drawing/2014/main" id="{7E7E9E1B-E18D-298C-4047-0B65DA9A9707}"/>
              </a:ext>
            </a:extLst>
          </p:cNvPr>
          <p:cNvPicPr>
            <a:picLocks noChangeAspect="1"/>
          </p:cNvPicPr>
          <p:nvPr/>
        </p:nvPicPr>
        <p:blipFill>
          <a:blip r:embed="rId2"/>
          <a:stretch>
            <a:fillRect/>
          </a:stretch>
        </p:blipFill>
        <p:spPr>
          <a:xfrm>
            <a:off x="5653547" y="2556932"/>
            <a:ext cx="4925962" cy="3478982"/>
          </a:xfrm>
          <a:prstGeom prst="rect">
            <a:avLst/>
          </a:prstGeom>
        </p:spPr>
      </p:pic>
    </p:spTree>
    <p:extLst>
      <p:ext uri="{BB962C8B-B14F-4D97-AF65-F5344CB8AC3E}">
        <p14:creationId xmlns:p14="http://schemas.microsoft.com/office/powerpoint/2010/main" val="7338146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65151-8FA8-5756-6F1C-D7C9D2BAC8C5}"/>
              </a:ext>
            </a:extLst>
          </p:cNvPr>
          <p:cNvSpPr>
            <a:spLocks noGrp="1"/>
          </p:cNvSpPr>
          <p:nvPr>
            <p:ph type="title"/>
          </p:nvPr>
        </p:nvSpPr>
        <p:spPr/>
        <p:txBody>
          <a:bodyPr/>
          <a:lstStyle/>
          <a:p>
            <a:r>
              <a:rPr lang="en-IN" dirty="0"/>
              <a:t>Code – Inventory Summary Report</a:t>
            </a:r>
          </a:p>
        </p:txBody>
      </p:sp>
      <p:pic>
        <p:nvPicPr>
          <p:cNvPr id="5" name="Content Placeholder 4">
            <a:extLst>
              <a:ext uri="{FF2B5EF4-FFF2-40B4-BE49-F238E27FC236}">
                <a16:creationId xmlns:a16="http://schemas.microsoft.com/office/drawing/2014/main" id="{83B5F992-9FFE-8ECD-36F4-46E50F6EB0C2}"/>
              </a:ext>
            </a:extLst>
          </p:cNvPr>
          <p:cNvPicPr>
            <a:picLocks noGrp="1" noChangeAspect="1"/>
          </p:cNvPicPr>
          <p:nvPr>
            <p:ph idx="1"/>
          </p:nvPr>
        </p:nvPicPr>
        <p:blipFill>
          <a:blip r:embed="rId2"/>
          <a:stretch>
            <a:fillRect/>
          </a:stretch>
        </p:blipFill>
        <p:spPr>
          <a:xfrm>
            <a:off x="1135505" y="2557993"/>
            <a:ext cx="4336268" cy="3317875"/>
          </a:xfrm>
          <a:prstGeom prst="rect">
            <a:avLst/>
          </a:prstGeom>
        </p:spPr>
      </p:pic>
      <p:sp>
        <p:nvSpPr>
          <p:cNvPr id="7" name="TextBox 6">
            <a:extLst>
              <a:ext uri="{FF2B5EF4-FFF2-40B4-BE49-F238E27FC236}">
                <a16:creationId xmlns:a16="http://schemas.microsoft.com/office/drawing/2014/main" id="{43C8A1CB-9530-5952-7637-FB5196CEA1F7}"/>
              </a:ext>
            </a:extLst>
          </p:cNvPr>
          <p:cNvSpPr txBox="1"/>
          <p:nvPr/>
        </p:nvSpPr>
        <p:spPr>
          <a:xfrm>
            <a:off x="5471773" y="2589400"/>
            <a:ext cx="6149956" cy="2800767"/>
          </a:xfrm>
          <a:prstGeom prst="rect">
            <a:avLst/>
          </a:prstGeom>
          <a:noFill/>
        </p:spPr>
        <p:txBody>
          <a:bodyPr wrap="square">
            <a:spAutoFit/>
          </a:bodyPr>
          <a:lstStyle/>
          <a:p>
            <a:r>
              <a:rPr lang="en-IN" sz="1600" dirty="0"/>
              <a:t>static void </a:t>
            </a:r>
            <a:r>
              <a:rPr lang="en-IN" sz="1600" dirty="0" err="1"/>
              <a:t>generateSummaryReport</a:t>
            </a:r>
            <a:r>
              <a:rPr lang="en-IN" sz="1600" dirty="0"/>
              <a:t>() {</a:t>
            </a:r>
          </a:p>
          <a:p>
            <a:r>
              <a:rPr lang="en-IN" sz="1600" dirty="0"/>
              <a:t>    int </a:t>
            </a:r>
            <a:r>
              <a:rPr lang="en-IN" sz="1600" dirty="0" err="1"/>
              <a:t>totalItems</a:t>
            </a:r>
            <a:r>
              <a:rPr lang="en-IN" sz="1600" dirty="0"/>
              <a:t> = 0;</a:t>
            </a:r>
          </a:p>
          <a:p>
            <a:endParaRPr lang="en-IN" sz="1600" dirty="0"/>
          </a:p>
          <a:p>
            <a:r>
              <a:rPr lang="en-IN" sz="1600" dirty="0"/>
              <a:t>    for (Product p : </a:t>
            </a:r>
            <a:r>
              <a:rPr lang="en-IN" sz="1600" dirty="0" err="1"/>
              <a:t>inventory.values</a:t>
            </a:r>
            <a:r>
              <a:rPr lang="en-IN" sz="1600" dirty="0"/>
              <a:t>()) {</a:t>
            </a:r>
          </a:p>
          <a:p>
            <a:r>
              <a:rPr lang="en-IN" sz="1600" dirty="0"/>
              <a:t>        </a:t>
            </a:r>
            <a:r>
              <a:rPr lang="en-IN" sz="1600" dirty="0" err="1"/>
              <a:t>totalItems</a:t>
            </a:r>
            <a:r>
              <a:rPr lang="en-IN" sz="1600" dirty="0"/>
              <a:t> += </a:t>
            </a:r>
            <a:r>
              <a:rPr lang="en-IN" sz="1600" dirty="0" err="1"/>
              <a:t>p.totalStock</a:t>
            </a:r>
            <a:r>
              <a:rPr lang="en-IN" sz="1600" dirty="0"/>
              <a:t>;</a:t>
            </a:r>
          </a:p>
          <a:p>
            <a:r>
              <a:rPr lang="en-IN" sz="1600" dirty="0"/>
              <a:t>    }</a:t>
            </a:r>
          </a:p>
          <a:p>
            <a:endParaRPr lang="en-IN" sz="1600" dirty="0"/>
          </a:p>
          <a:p>
            <a:r>
              <a:rPr lang="en-IN" sz="1600" dirty="0"/>
              <a:t>    </a:t>
            </a:r>
            <a:r>
              <a:rPr lang="en-IN" sz="1600" dirty="0" err="1"/>
              <a:t>System.out.println</a:t>
            </a:r>
            <a:r>
              <a:rPr lang="en-IN" sz="1600" dirty="0"/>
              <a:t>("\n----- INVENTORY SUMMARY REPORT -----");</a:t>
            </a:r>
          </a:p>
          <a:p>
            <a:r>
              <a:rPr lang="en-IN" sz="1600" dirty="0"/>
              <a:t>    </a:t>
            </a:r>
            <a:r>
              <a:rPr lang="en-IN" sz="1600" dirty="0" err="1"/>
              <a:t>System.out.println</a:t>
            </a:r>
            <a:r>
              <a:rPr lang="en-IN" sz="1600" dirty="0"/>
              <a:t>("Total Number of Products : " + </a:t>
            </a:r>
            <a:r>
              <a:rPr lang="en-IN" sz="1600" dirty="0" err="1"/>
              <a:t>inventory.size</a:t>
            </a:r>
            <a:r>
              <a:rPr lang="en-IN" sz="1600" dirty="0"/>
              <a:t>());</a:t>
            </a:r>
          </a:p>
          <a:p>
            <a:r>
              <a:rPr lang="en-IN" sz="1600" dirty="0"/>
              <a:t>    </a:t>
            </a:r>
            <a:r>
              <a:rPr lang="en-IN" sz="1600" dirty="0" err="1"/>
              <a:t>System.out.println</a:t>
            </a:r>
            <a:r>
              <a:rPr lang="en-IN" sz="1600" dirty="0"/>
              <a:t>("Total Stock Available   : " + </a:t>
            </a:r>
            <a:r>
              <a:rPr lang="en-IN" sz="1600" dirty="0" err="1"/>
              <a:t>totalItems</a:t>
            </a:r>
            <a:r>
              <a:rPr lang="en-IN" sz="1600" dirty="0"/>
              <a:t>);</a:t>
            </a:r>
          </a:p>
          <a:p>
            <a:r>
              <a:rPr lang="en-IN" sz="1600" dirty="0"/>
              <a:t>}</a:t>
            </a:r>
          </a:p>
        </p:txBody>
      </p:sp>
    </p:spTree>
    <p:extLst>
      <p:ext uri="{BB962C8B-B14F-4D97-AF65-F5344CB8AC3E}">
        <p14:creationId xmlns:p14="http://schemas.microsoft.com/office/powerpoint/2010/main" val="28309248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8B4F-4241-49F6-C052-95296B2B0D22}"/>
              </a:ext>
            </a:extLst>
          </p:cNvPr>
          <p:cNvSpPr>
            <a:spLocks noGrp="1"/>
          </p:cNvSpPr>
          <p:nvPr>
            <p:ph type="title"/>
          </p:nvPr>
        </p:nvSpPr>
        <p:spPr/>
        <p:txBody>
          <a:bodyPr/>
          <a:lstStyle/>
          <a:p>
            <a:r>
              <a:rPr lang="en-IN" b="1" dirty="0"/>
              <a:t>Sample Output</a:t>
            </a:r>
          </a:p>
        </p:txBody>
      </p:sp>
      <p:pic>
        <p:nvPicPr>
          <p:cNvPr id="5" name="Content Placeholder 4">
            <a:extLst>
              <a:ext uri="{FF2B5EF4-FFF2-40B4-BE49-F238E27FC236}">
                <a16:creationId xmlns:a16="http://schemas.microsoft.com/office/drawing/2014/main" id="{7C28C5CC-A1B4-12EF-A740-5BEC21D287E1}"/>
              </a:ext>
            </a:extLst>
          </p:cNvPr>
          <p:cNvPicPr>
            <a:picLocks noGrp="1" noChangeAspect="1"/>
          </p:cNvPicPr>
          <p:nvPr>
            <p:ph idx="1"/>
          </p:nvPr>
        </p:nvPicPr>
        <p:blipFill>
          <a:blip r:embed="rId2"/>
          <a:stretch>
            <a:fillRect/>
          </a:stretch>
        </p:blipFill>
        <p:spPr>
          <a:xfrm>
            <a:off x="920615" y="2557993"/>
            <a:ext cx="4569401" cy="3317875"/>
          </a:xfrm>
          <a:prstGeom prst="rect">
            <a:avLst/>
          </a:prstGeom>
        </p:spPr>
      </p:pic>
      <p:pic>
        <p:nvPicPr>
          <p:cNvPr id="7" name="Picture 6">
            <a:extLst>
              <a:ext uri="{FF2B5EF4-FFF2-40B4-BE49-F238E27FC236}">
                <a16:creationId xmlns:a16="http://schemas.microsoft.com/office/drawing/2014/main" id="{3A5C0CBD-1203-A3BB-F336-E18D97B80AB0}"/>
              </a:ext>
            </a:extLst>
          </p:cNvPr>
          <p:cNvPicPr>
            <a:picLocks noChangeAspect="1"/>
          </p:cNvPicPr>
          <p:nvPr/>
        </p:nvPicPr>
        <p:blipFill>
          <a:blip r:embed="rId3"/>
          <a:srcRect l="1225" t="1261" b="1337"/>
          <a:stretch>
            <a:fillRect/>
          </a:stretch>
        </p:blipFill>
        <p:spPr>
          <a:xfrm>
            <a:off x="5751871" y="2557993"/>
            <a:ext cx="5594838" cy="3386813"/>
          </a:xfrm>
          <a:prstGeom prst="rect">
            <a:avLst/>
          </a:prstGeom>
        </p:spPr>
      </p:pic>
    </p:spTree>
    <p:extLst>
      <p:ext uri="{BB962C8B-B14F-4D97-AF65-F5344CB8AC3E}">
        <p14:creationId xmlns:p14="http://schemas.microsoft.com/office/powerpoint/2010/main" val="7011859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E204C-3E69-BDA4-21B7-1E731125A0B7}"/>
              </a:ext>
            </a:extLst>
          </p:cNvPr>
          <p:cNvSpPr>
            <a:spLocks noGrp="1"/>
          </p:cNvSpPr>
          <p:nvPr>
            <p:ph type="title"/>
          </p:nvPr>
        </p:nvSpPr>
        <p:spPr/>
        <p:txBody>
          <a:bodyPr/>
          <a:lstStyle/>
          <a:p>
            <a:r>
              <a:rPr lang="en-IN" b="1" dirty="0"/>
              <a:t>Conclusion</a:t>
            </a:r>
          </a:p>
        </p:txBody>
      </p:sp>
      <p:sp>
        <p:nvSpPr>
          <p:cNvPr id="3" name="Content Placeholder 2">
            <a:extLst>
              <a:ext uri="{FF2B5EF4-FFF2-40B4-BE49-F238E27FC236}">
                <a16:creationId xmlns:a16="http://schemas.microsoft.com/office/drawing/2014/main" id="{995F89C8-6F4F-FD62-D467-EB502B954BD5}"/>
              </a:ext>
            </a:extLst>
          </p:cNvPr>
          <p:cNvSpPr>
            <a:spLocks noGrp="1"/>
          </p:cNvSpPr>
          <p:nvPr>
            <p:ph idx="1"/>
          </p:nvPr>
        </p:nvSpPr>
        <p:spPr>
          <a:xfrm>
            <a:off x="1295401" y="3293806"/>
            <a:ext cx="9601196" cy="2582062"/>
          </a:xfrm>
        </p:spPr>
        <p:txBody>
          <a:bodyPr>
            <a:normAutofit/>
          </a:bodyPr>
          <a:lstStyle/>
          <a:p>
            <a:pPr marL="0" indent="0" algn="ctr">
              <a:buNone/>
            </a:pPr>
            <a:r>
              <a:rPr lang="en-US" sz="2800" dirty="0"/>
              <a:t>Reporting and analytics features to the inventory system.</a:t>
            </a:r>
            <a:br>
              <a:rPr lang="en-US" sz="2800" dirty="0"/>
            </a:br>
            <a:r>
              <a:rPr lang="en-US" sz="2800" dirty="0"/>
              <a:t>It transforms stored inventory data into meaningful business insights.</a:t>
            </a:r>
            <a:endParaRPr lang="en-IN" sz="2800" dirty="0"/>
          </a:p>
        </p:txBody>
      </p:sp>
    </p:spTree>
    <p:extLst>
      <p:ext uri="{BB962C8B-B14F-4D97-AF65-F5344CB8AC3E}">
        <p14:creationId xmlns:p14="http://schemas.microsoft.com/office/powerpoint/2010/main" val="22068063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60E331-BBCE-9095-8B40-2DA6EDFE7CE9}"/>
              </a:ext>
            </a:extLst>
          </p:cNvPr>
          <p:cNvSpPr txBox="1"/>
          <p:nvPr/>
        </p:nvSpPr>
        <p:spPr>
          <a:xfrm>
            <a:off x="2910348" y="2644170"/>
            <a:ext cx="7020233" cy="1569660"/>
          </a:xfrm>
          <a:prstGeom prst="rect">
            <a:avLst/>
          </a:prstGeom>
          <a:noFill/>
        </p:spPr>
        <p:txBody>
          <a:bodyPr wrap="square">
            <a:spAutoFit/>
          </a:bodyPr>
          <a:lstStyle/>
          <a:p>
            <a:r>
              <a:rPr lang="en-IN" sz="9600" dirty="0">
                <a:latin typeface="Viner Hand ITC" panose="03070502030502020203" pitchFamily="66" charset="0"/>
              </a:rPr>
              <a:t>Thank you </a:t>
            </a:r>
          </a:p>
        </p:txBody>
      </p:sp>
    </p:spTree>
    <p:extLst>
      <p:ext uri="{BB962C8B-B14F-4D97-AF65-F5344CB8AC3E}">
        <p14:creationId xmlns:p14="http://schemas.microsoft.com/office/powerpoint/2010/main" val="22439771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146</TotalTime>
  <Words>2181</Words>
  <Application>Microsoft Office PowerPoint</Application>
  <PresentationFormat>Widescreen</PresentationFormat>
  <Paragraphs>319</Paragraphs>
  <Slides>56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56</vt:i4>
      </vt:variant>
    </vt:vector>
  </HeadingPairs>
  <TitlesOfParts>
    <vt:vector size="64" baseType="lpstr">
      <vt:lpstr>Aptos Display</vt:lpstr>
      <vt:lpstr>Arial</vt:lpstr>
      <vt:lpstr>Arial Unicode MS</vt:lpstr>
      <vt:lpstr>Courier New</vt:lpstr>
      <vt:lpstr>Garamond</vt:lpstr>
      <vt:lpstr>ui-sans-serif</vt:lpstr>
      <vt:lpstr>Viner Hand ITC</vt:lpstr>
      <vt:lpstr>Organic</vt:lpstr>
      <vt:lpstr>Inventra – Intelligent Inventory Management System  Milestone 1</vt:lpstr>
      <vt:lpstr>Meaning of the Title</vt:lpstr>
      <vt:lpstr>Existing System</vt:lpstr>
      <vt:lpstr>Proposed System</vt:lpstr>
      <vt:lpstr>Modules of Inventra </vt:lpstr>
      <vt:lpstr>Working of Each Module</vt:lpstr>
      <vt:lpstr>PowerPoint Presentation</vt:lpstr>
      <vt:lpstr>System Configuration</vt:lpstr>
      <vt:lpstr>Classes</vt:lpstr>
      <vt:lpstr>Uses of Each Class</vt:lpstr>
      <vt:lpstr>PowerPoint Presentation</vt:lpstr>
      <vt:lpstr>PowerPoint Presentation</vt:lpstr>
      <vt:lpstr>PowerPoint Presentation</vt:lpstr>
      <vt:lpstr>Login Output</vt:lpstr>
      <vt:lpstr>Inventra – Intelligent Inventory Management System</vt:lpstr>
      <vt:lpstr>MODULE 2 INTRODUCTION</vt:lpstr>
      <vt:lpstr>AUTHENTICATION MODULE </vt:lpstr>
      <vt:lpstr>SIGN UP CONTROLLER </vt:lpstr>
      <vt:lpstr>SIGN UP SERVICE</vt:lpstr>
      <vt:lpstr>SIGN IN CONTROLLER</vt:lpstr>
      <vt:lpstr>SIGN IN SERVICE</vt:lpstr>
      <vt:lpstr>PURPOSE OF MODULE 2 </vt:lpstr>
      <vt:lpstr>PRODUCT CLASS </vt:lpstr>
      <vt:lpstr>PRODUCT CLASS</vt:lpstr>
      <vt:lpstr>PRODUCT CONTROLLER</vt:lpstr>
      <vt:lpstr>PRODUCT CONTROLLER</vt:lpstr>
      <vt:lpstr>PRODUCT SERVICE </vt:lpstr>
      <vt:lpstr>ADD PRODUCT OPERATION</vt:lpstr>
      <vt:lpstr>STOCK IN OPERATION </vt:lpstr>
      <vt:lpstr>STOCK OUT OPERATION </vt:lpstr>
      <vt:lpstr>PRODUCT REPOSITORY </vt:lpstr>
      <vt:lpstr>PRODUCT SERVICE</vt:lpstr>
      <vt:lpstr>STOCK IN OPERATION</vt:lpstr>
      <vt:lpstr>PowerPoint Presentation</vt:lpstr>
      <vt:lpstr>PRODUCT REPOSITORY</vt:lpstr>
      <vt:lpstr>MODULE 2 FLOW</vt:lpstr>
      <vt:lpstr>Inventra – Intelligent Inventory Management System   Milestone 3</vt:lpstr>
      <vt:lpstr>MODULE 3 Introduction</vt:lpstr>
      <vt:lpstr>Problem Addressed</vt:lpstr>
      <vt:lpstr>Objectives of Alert Module</vt:lpstr>
      <vt:lpstr>When Alert Is Triggered</vt:lpstr>
      <vt:lpstr>Flow Diagram  </vt:lpstr>
      <vt:lpstr>Java Code – Product Class</vt:lpstr>
      <vt:lpstr>NotificationService</vt:lpstr>
      <vt:lpstr>AlertService</vt:lpstr>
      <vt:lpstr>InventoryAlertDemo</vt:lpstr>
      <vt:lpstr>Expected Output </vt:lpstr>
      <vt:lpstr>Inventra – Intelligent Inventory Management System   Milestone 4</vt:lpstr>
      <vt:lpstr>Module 4: Reports &amp; Analytics Purpose of Reports &amp; Analytics</vt:lpstr>
      <vt:lpstr>Objectives </vt:lpstr>
      <vt:lpstr>Flowchart – Reports &amp; Analytics Process</vt:lpstr>
      <vt:lpstr>Types of Reports Generated</vt:lpstr>
      <vt:lpstr>Code – Inventory Summary Report</vt:lpstr>
      <vt:lpstr>Sample Output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Prathyusha Yekamba</dc:creator>
  <cp:lastModifiedBy>Prathyusha Yekamba</cp:lastModifiedBy>
  <cp:revision>2</cp:revision>
  <dcterms:created xsi:type="dcterms:W3CDTF">2025-12-03T13:51:28Z</dcterms:created>
  <dcterms:modified xsi:type="dcterms:W3CDTF">2026-02-03T14:05:55Z</dcterms:modified>
</cp:coreProperties>
</file>